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>
  <p:sldMasterIdLst>
    <p:sldMasterId id="2147483648" r:id="rId1"/>
  </p:sldMasterIdLst>
  <p:sldIdLst>
    <p:sldId id="256" r:id="rId7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12191695" cy="6858000" type="screen4x3"/>
  <p:notesSz cx="6858000" cy="9144000"/>
  <p:embeddedFontLst>
    <p:embeddedFont>
      <p:font typeface="Unbounded" pitchFamily="2" charset="0"/>
      <p:regular r:id="rId9"/>
      <p:bold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37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253" y="2264958"/>
            <a:ext cx="457188" cy="4000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4015" y="2998365"/>
            <a:ext cx="6557970" cy="571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599" b="1" i="0">
                <a:solidFill>
                  <a:srgbClr val="411B38"/>
                </a:solidFill>
                <a:latin typeface="Microsoft YaHei"/>
              </a:rPr>
              <a:t>보행자 교통안전 분석 대시보드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12127" y="3836544"/>
            <a:ext cx="5076035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99" b="0" i="0">
                <a:solidFill>
                  <a:srgbClr val="411B38">
                    <a:alpha val="80000"/>
                  </a:srgbClr>
                </a:solidFill>
                <a:latin typeface="Microsoft YaHei"/>
              </a:rPr>
              <a:t>데이터 기반 교통 안전 개선을 위한 통합 플랫폼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9258" y="6353016"/>
            <a:ext cx="2508620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39" b="0" i="0">
                <a:solidFill>
                  <a:srgbClr val="411B38">
                    <a:alpha val="70000"/>
                  </a:srgbClr>
                </a:solidFill>
                <a:latin typeface="Unbounded"/>
              </a:rPr>
              <a:t>KDT 03</a:t>
            </a:r>
            <a:r>
              <a:rPr sz="1139" b="0" i="0">
                <a:solidFill>
                  <a:srgbClr val="411B38">
                    <a:alpha val="70000"/>
                  </a:srgbClr>
                </a:solidFill>
                <a:latin typeface="Microsoft YaHei"/>
              </a:rPr>
              <a:t>기 미니 프로젝트 </a:t>
            </a:r>
            <a:r>
              <a:rPr sz="1139" b="0" i="0">
                <a:solidFill>
                  <a:srgbClr val="411B38">
                    <a:alpha val="70000"/>
                  </a:srgbClr>
                </a:solidFill>
                <a:latin typeface="Unbounded"/>
              </a:rPr>
              <a:t>| 2025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687" y="2953569"/>
            <a:ext cx="228577" cy="2000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671" y="3451833"/>
            <a:ext cx="228594" cy="20001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8532" y="3935810"/>
            <a:ext cx="142871" cy="22859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5671" y="4456933"/>
            <a:ext cx="228594" cy="182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5671" y="5046635"/>
            <a:ext cx="6500352" cy="4481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32427" y="304792"/>
            <a:ext cx="3743999" cy="44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49" b="1" i="0">
                <a:solidFill>
                  <a:srgbClr val="411B38"/>
                </a:solidFill>
                <a:latin typeface="Microsoft YaHei"/>
              </a:rPr>
              <a:t>프로젝트 개요 및 배경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5671" y="2272548"/>
            <a:ext cx="2415469" cy="35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79" b="1" i="0">
                <a:solidFill>
                  <a:srgbClr val="411B38"/>
                </a:solidFill>
                <a:latin typeface="Microsoft YaHei"/>
              </a:rPr>
              <a:t>추진 배경 및 목적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4265" y="2927971"/>
            <a:ext cx="4606598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전국 보행자 사고 데이터와 교통 시설 정보의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통합 분석 필요성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대두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4265" y="3426235"/>
            <a:ext cx="4134081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보행자 사고 데이터의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시각화 및 정밀 분석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을 통한 패턴 발견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4265" y="3924499"/>
            <a:ext cx="4513880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교통 시설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(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횡단보도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신호등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)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현황의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정량적 파악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및 취약지역 식별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4265" y="4422763"/>
            <a:ext cx="4461792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시민 참여형 교통 안전 개선 건의 시스템을 통한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협력적 안전 관리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968" y="5179982"/>
            <a:ext cx="6456914" cy="1714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1">
                <a:solidFill>
                  <a:srgbClr val="411B38"/>
                </a:solidFill>
                <a:latin typeface="Microsoft YaHei"/>
              </a:rPr>
              <a:t>핵심 가치</a:t>
            </a:r>
            <a:r>
              <a:rPr sz="1079" b="1" i="1">
                <a:solidFill>
                  <a:srgbClr val="411B38"/>
                </a:solidFill>
                <a:latin typeface="Unbounded"/>
              </a:rPr>
              <a:t>: </a:t>
            </a:r>
            <a:r>
              <a:rPr sz="1079" b="0" i="1">
                <a:solidFill>
                  <a:srgbClr val="411B38"/>
                </a:solidFill>
                <a:latin typeface="Unbounded"/>
              </a:rPr>
              <a:t> </a:t>
            </a:r>
            <a:r>
              <a:rPr sz="1079" b="0" i="1">
                <a:solidFill>
                  <a:srgbClr val="411B38"/>
                </a:solidFill>
                <a:latin typeface="Microsoft YaHei"/>
              </a:rPr>
              <a:t>데이터 기반의 객관적 분석과 시민 참여를 결합하여 보행자 교통안전 개선의 효율성을 극대화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82" y="2899104"/>
            <a:ext cx="228594" cy="2000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82" y="3409968"/>
            <a:ext cx="228594" cy="17480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82" y="3895627"/>
            <a:ext cx="228594" cy="20001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69" y="4379604"/>
            <a:ext cx="200019" cy="22859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2640" y="1323941"/>
            <a:ext cx="4371865" cy="5143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65703" y="304792"/>
            <a:ext cx="4888727" cy="476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99" b="1" i="0">
                <a:solidFill>
                  <a:srgbClr val="411B38"/>
                </a:solidFill>
                <a:latin typeface="Microsoft YaHei"/>
              </a:rPr>
              <a:t>기술 스택 </a:t>
            </a:r>
            <a:r>
              <a:rPr sz="2999" b="1" i="0">
                <a:solidFill>
                  <a:srgbClr val="411B38"/>
                </a:solidFill>
                <a:latin typeface="Unbounded"/>
              </a:rPr>
              <a:t>(Tech Stack)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2191439"/>
            <a:ext cx="1892476" cy="333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99" b="1" i="0">
                <a:solidFill>
                  <a:srgbClr val="411B38"/>
                </a:solidFill>
                <a:latin typeface="Microsoft YaHei"/>
              </a:rPr>
              <a:t>핵심 기술 구성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2903861"/>
            <a:ext cx="5100397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Frontend: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Next.js 16, TypeScript, React 19, Tailwind CSS 4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402125"/>
            <a:ext cx="4373688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지도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/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차트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Leaflet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인터랙티브 지도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, Chart.js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데이터 시각화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3900389"/>
            <a:ext cx="4812869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Backend: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Spring Boot 3.5.8, Java 21, Spring Data JPA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4398654"/>
            <a:ext cx="3799077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Database: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MySQL 8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공간 데이터 인덱싱 및 적재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79" y="5125512"/>
            <a:ext cx="5874385" cy="3704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25" b="1" i="1">
                <a:solidFill>
                  <a:srgbClr val="6B4C57"/>
                </a:solidFill>
                <a:latin typeface="Microsoft YaHei"/>
              </a:rPr>
              <a:t>보안 및 테스팅</a:t>
            </a:r>
            <a:r>
              <a:rPr sz="1025" b="1" i="1">
                <a:solidFill>
                  <a:srgbClr val="6B4C57"/>
                </a:solidFill>
                <a:latin typeface="Unbounded"/>
              </a:rPr>
              <a:t>: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 Spring Security, JWT, OAuth2 Client 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인증과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Vitest, Fast-check 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기반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Property-Based Testing 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적용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255" y="2744232"/>
            <a:ext cx="203195" cy="20317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556" y="3252646"/>
            <a:ext cx="228594" cy="182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699" y="3728051"/>
            <a:ext cx="214307" cy="22734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6843" y="4226315"/>
            <a:ext cx="200019" cy="22859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2556" y="4838876"/>
            <a:ext cx="8686582" cy="716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91272" y="304792"/>
            <a:ext cx="2392020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99" b="1" i="0">
                <a:solidFill>
                  <a:srgbClr val="411B38"/>
                </a:solidFill>
                <a:latin typeface="Microsoft YaHei"/>
              </a:rPr>
              <a:t>시스템 아키텍처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2556" y="2140987"/>
            <a:ext cx="2764643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확장 가능한 시스템 설계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150" y="2750572"/>
            <a:ext cx="7310737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3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계층 아키텍처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로 프레젠테이션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비즈니스 로직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데이터 계층을 명확히 분리하여 유지보수성을 극대화했습니다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150" y="3248836"/>
            <a:ext cx="6826909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RESTful API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설계로 인증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대시보드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지도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건의사항 등 기능별 모듈화된 엔드포인트를 구현했습니다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150" y="3747100"/>
            <a:ext cx="6311233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OAuth2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기반 인증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으로 구글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네이버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깃허브 소셜 로그인과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JWT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토큰 관리를 통합했습니다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150" y="4245364"/>
            <a:ext cx="6797591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MySQL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공간 데이터 인덱싱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으로 지리적 좌표 기반 빠른 검색과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500m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반경 분석을 최적화했습니다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6853" y="4972223"/>
            <a:ext cx="8540342" cy="4342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99" b="1" i="1">
                <a:solidFill>
                  <a:srgbClr val="411B38"/>
                </a:solidFill>
                <a:latin typeface="Microsoft YaHei"/>
              </a:rPr>
              <a:t>핵심 설계 원칙</a:t>
            </a:r>
            <a:r>
              <a:rPr sz="1199" b="1" i="1">
                <a:solidFill>
                  <a:srgbClr val="411B38"/>
                </a:solidFill>
                <a:latin typeface="Unbounded"/>
              </a:rPr>
              <a:t>: 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 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마이크로서비스 지향 구조로 각 기능 모듈의 독립적 확장과 시도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/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시군구별 데이터 확장이 용이하도록 설계되었습니다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8" y="2625708"/>
            <a:ext cx="4876678" cy="2539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843" y="2769026"/>
            <a:ext cx="200019" cy="2285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658" y="3521701"/>
            <a:ext cx="228576" cy="18291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9649" y="4009825"/>
            <a:ext cx="228594" cy="2001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649" y="4495389"/>
            <a:ext cx="228583" cy="2286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1888" y="304792"/>
            <a:ext cx="4416507" cy="476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99" b="1" i="0">
                <a:solidFill>
                  <a:srgbClr val="411B38"/>
                </a:solidFill>
                <a:latin typeface="Microsoft YaHei"/>
              </a:rPr>
              <a:t>데이터 처리 및 분석 과정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649" y="2075653"/>
            <a:ext cx="2758783" cy="333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99" b="1" i="0">
                <a:solidFill>
                  <a:srgbClr val="411B38"/>
                </a:solidFill>
                <a:latin typeface="Microsoft YaHei"/>
              </a:rPr>
              <a:t>데이터 수집 및 전처리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058" y="2788076"/>
            <a:ext cx="5327503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전국 보행자 사고 통계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횡단보도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/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신호등 표준 데이터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,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행정구역 경계 데이터 통합 수집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243" y="3487551"/>
            <a:ext cx="4674611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Python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기반 전처리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로 데이터 정제 및 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공간 좌표 표준화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작업 수행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243" y="4016175"/>
            <a:ext cx="4360145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횡단보도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-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사고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-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신호등 간의 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공간 데이터 매핑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및 지리적 관계 분석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243" y="4484079"/>
            <a:ext cx="4401369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0" i="0">
                <a:solidFill>
                  <a:srgbClr val="411B38"/>
                </a:solidFill>
                <a:latin typeface="Microsoft YaHei"/>
              </a:rPr>
              <a:t>특정 지점 기준 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 500m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반경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내 사고 다발지역 클러스터링 분석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3946" y="5241297"/>
            <a:ext cx="5318526" cy="3704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25" b="1" i="1">
                <a:solidFill>
                  <a:srgbClr val="6B4C57"/>
                </a:solidFill>
                <a:latin typeface="Microsoft YaHei"/>
              </a:rPr>
              <a:t>핵심 기술</a:t>
            </a:r>
            <a:r>
              <a:rPr sz="1025" b="1" i="1">
                <a:solidFill>
                  <a:srgbClr val="6B4C57"/>
                </a:solidFill>
                <a:latin typeface="Unbounded"/>
              </a:rPr>
              <a:t>: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공간 인덱싱과 거리 기반 가중치 알고리즘을 통해 실시간 위험도 계산이 가능한 데이터 구조를 구축했습니다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72" y="2745810"/>
            <a:ext cx="228578" cy="2000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699" y="3229787"/>
            <a:ext cx="214307" cy="22734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30" y="3728051"/>
            <a:ext cx="171445" cy="22859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1130" y="4226315"/>
            <a:ext cx="171445" cy="22800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2556" y="4838876"/>
            <a:ext cx="8686582" cy="716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31335" y="304792"/>
            <a:ext cx="4711895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99" b="1" i="0">
                <a:solidFill>
                  <a:srgbClr val="411B38"/>
                </a:solidFill>
                <a:latin typeface="Microsoft YaHei"/>
              </a:rPr>
              <a:t>핵심 알고리즘 </a:t>
            </a:r>
            <a:r>
              <a:rPr sz="2399" b="1" i="0">
                <a:solidFill>
                  <a:srgbClr val="411B38"/>
                </a:solidFill>
                <a:latin typeface="Unbounded"/>
              </a:rPr>
              <a:t>- </a:t>
            </a:r>
            <a:r>
              <a:rPr sz="2399" b="1" i="0">
                <a:solidFill>
                  <a:srgbClr val="411B38"/>
                </a:solidFill>
                <a:latin typeface="Microsoft YaHei"/>
              </a:rPr>
              <a:t>위험 및 안전 지수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2556" y="2140987"/>
            <a:ext cx="2536049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정량적 안전 평가 지표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150" y="2720212"/>
            <a:ext cx="6227742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위험 지수 계산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반경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500m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내 사고 빈도 × 심각도 가중치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(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사망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&gt;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중상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&gt;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경상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)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× 거리 가중치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150" y="3218476"/>
            <a:ext cx="6524945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안전 지수 계산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신호등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음향신호기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점자블록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보도턱 낮춤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집중조명 등 편의시설 설치 여부 종합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150" y="3716740"/>
            <a:ext cx="7433964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정규화 처리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모든 지수를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0~100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범위로 정규화하여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5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단계 위험 레벨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(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매우높음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80-100,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높음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60-79)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분류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150" y="4215004"/>
            <a:ext cx="5929647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공간 분석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MySQL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공간 인덱스를 활용한 지리적 좌표 기반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500m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반경 실시간 분석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6853" y="4972223"/>
            <a:ext cx="8513554" cy="4342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99" b="1" i="1">
                <a:solidFill>
                  <a:srgbClr val="411B38"/>
                </a:solidFill>
                <a:latin typeface="Microsoft YaHei"/>
              </a:rPr>
              <a:t>알고리즘 특징</a:t>
            </a:r>
            <a:r>
              <a:rPr sz="1199" b="1" i="1">
                <a:solidFill>
                  <a:srgbClr val="411B38"/>
                </a:solidFill>
                <a:latin typeface="Unbounded"/>
              </a:rPr>
              <a:t>: 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 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실제 사고 데이터와 인프라 현황을 결합하여 객관적이고 정량적인 위험도 평가가 가능하며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, 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우선순위 기반 개선 방향을 제시합니다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82" y="2897511"/>
            <a:ext cx="228594" cy="200193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69" y="3383076"/>
            <a:ext cx="200019" cy="2285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44" y="3881340"/>
            <a:ext cx="142871" cy="22859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82" y="4393891"/>
            <a:ext cx="228594" cy="20001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828" y="2525847"/>
            <a:ext cx="4876678" cy="27395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89049" y="304792"/>
            <a:ext cx="5242185" cy="476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99" b="1" i="0">
                <a:solidFill>
                  <a:srgbClr val="411B38"/>
                </a:solidFill>
                <a:latin typeface="Microsoft YaHei"/>
              </a:rPr>
              <a:t>주요 기능 </a:t>
            </a:r>
            <a:r>
              <a:rPr sz="2999" b="1" i="0">
                <a:solidFill>
                  <a:srgbClr val="411B38"/>
                </a:solidFill>
                <a:latin typeface="Unbounded"/>
              </a:rPr>
              <a:t>(1) - </a:t>
            </a:r>
            <a:r>
              <a:rPr sz="2999" b="1" i="0">
                <a:solidFill>
                  <a:srgbClr val="411B38"/>
                </a:solidFill>
                <a:latin typeface="Microsoft YaHei"/>
              </a:rPr>
              <a:t>분석 및 시각화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2191439"/>
            <a:ext cx="2692556" cy="3333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99" b="1" i="0">
                <a:solidFill>
                  <a:srgbClr val="411B38"/>
                </a:solidFill>
                <a:latin typeface="Microsoft YaHei"/>
              </a:rPr>
              <a:t>인터랙티브 지도 분석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2903861"/>
            <a:ext cx="4846503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행정구역별 자유로운 지역 이동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시도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시군구 단위로 실시간 데이터 탐색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402125"/>
            <a:ext cx="4707203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월별 사고 분포 시각화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시간대별 패턴 분석과 사고 다발지역 마커 표시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3900389"/>
            <a:ext cx="4417889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교통 시설 위치 데이터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횡단보도 및 신호등 설치 현황 레이어 표시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4398654"/>
            <a:ext cx="4881477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KPI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중심 대시보드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지역별 신호등 설치율과 안전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/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위험 지수 실시간 표출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79" y="5125512"/>
            <a:ext cx="5381776" cy="3704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25" b="1" i="1">
                <a:solidFill>
                  <a:srgbClr val="6B4C57"/>
                </a:solidFill>
                <a:latin typeface="Microsoft YaHei"/>
              </a:rPr>
              <a:t>핵심 기술</a:t>
            </a:r>
            <a:r>
              <a:rPr sz="1025" b="1" i="1">
                <a:solidFill>
                  <a:srgbClr val="6B4C57"/>
                </a:solidFill>
                <a:latin typeface="Unbounded"/>
              </a:rPr>
              <a:t>: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 Leaflet 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기반 인터랙티브 지도와 </a:t>
            </a:r>
            <a:r>
              <a:rPr sz="1025" b="0" i="1">
                <a:solidFill>
                  <a:srgbClr val="6B4C57"/>
                </a:solidFill>
                <a:latin typeface="Unbounded"/>
              </a:rPr>
              <a:t>Chart.js</a:t>
            </a:r>
            <a:r>
              <a:rPr sz="1025" b="0" i="1">
                <a:solidFill>
                  <a:srgbClr val="6B4C57"/>
                </a:solidFill>
                <a:latin typeface="Microsoft YaHei"/>
              </a:rPr>
              <a:t>를 활용한 실시간 데이터 시각화로 직관적인 분석 환경 제공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144" y="2853410"/>
            <a:ext cx="171445" cy="22800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3566" y="3374533"/>
            <a:ext cx="228586" cy="182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3548" y="3864188"/>
            <a:ext cx="228616" cy="19291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3570" y="4371061"/>
            <a:ext cx="228594" cy="18290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3570" y="4960763"/>
            <a:ext cx="8044554" cy="472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53361" y="304792"/>
            <a:ext cx="4667843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99" b="1" i="0">
                <a:solidFill>
                  <a:srgbClr val="411B38"/>
                </a:solidFill>
                <a:latin typeface="Microsoft YaHei"/>
              </a:rPr>
              <a:t>주요 기능 </a:t>
            </a:r>
            <a:r>
              <a:rPr sz="2399" b="1" i="0">
                <a:solidFill>
                  <a:srgbClr val="411B38"/>
                </a:solidFill>
                <a:latin typeface="Unbounded"/>
              </a:rPr>
              <a:t>(2) - </a:t>
            </a:r>
            <a:r>
              <a:rPr sz="2399" b="1" i="0">
                <a:solidFill>
                  <a:srgbClr val="411B38"/>
                </a:solidFill>
                <a:latin typeface="Microsoft YaHei"/>
              </a:rPr>
              <a:t>시민 참여 및 관리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3570" y="2262875"/>
            <a:ext cx="3278534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시민 중심의 참여형 안전 관리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2164" y="2872459"/>
            <a:ext cx="5073162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지도 기반 건의 시스템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실시간 위험 지수 확인과 신호등 설치 건의 작성 기능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164" y="3370723"/>
            <a:ext cx="4662556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소통 플랫폼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사용자 간 댓글 및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'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좋아요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'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기능으로 지역 안전 이슈 공유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2164" y="3868987"/>
            <a:ext cx="4565076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처리 상태 추적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관리자 검토부터 처리 완료까지 전 과정 투명한 관리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2164" y="4367252"/>
            <a:ext cx="4899336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OAuth2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인증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구글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네이버</a:t>
            </a:r>
            <a:r>
              <a:rPr sz="1139" b="0" i="0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0">
                <a:solidFill>
                  <a:srgbClr val="6B4C57"/>
                </a:solidFill>
                <a:latin typeface="Microsoft YaHei"/>
              </a:rPr>
              <a:t>깃허브 소셜 로그인과 개인 활동 내역 관리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87867" y="5094110"/>
            <a:ext cx="8021689" cy="19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99" b="1" i="1">
                <a:solidFill>
                  <a:srgbClr val="411B38"/>
                </a:solidFill>
                <a:latin typeface="Microsoft YaHei"/>
              </a:rPr>
              <a:t>핵심 가치</a:t>
            </a:r>
            <a:r>
              <a:rPr sz="1199" b="1" i="1">
                <a:solidFill>
                  <a:srgbClr val="411B38"/>
                </a:solidFill>
                <a:latin typeface="Unbounded"/>
              </a:rPr>
              <a:t>: 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 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시민의 직접적인 참여를 통해 지역별 교통 안전 문제를 신속하게 발견하고 해결하는 협력적 거버넌스 구현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56" y="2731523"/>
            <a:ext cx="228594" cy="2285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572" y="3244074"/>
            <a:ext cx="228578" cy="20001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556" y="3742338"/>
            <a:ext cx="228594" cy="20001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865" y="4252032"/>
            <a:ext cx="224427" cy="17870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2556" y="4838876"/>
            <a:ext cx="8686582" cy="716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06085" y="304792"/>
            <a:ext cx="3762395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99" b="1" i="0">
                <a:solidFill>
                  <a:srgbClr val="411B38"/>
                </a:solidFill>
                <a:latin typeface="Microsoft YaHei"/>
              </a:rPr>
              <a:t>우선순위 기반 개선 시스템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2556" y="2140987"/>
            <a:ext cx="3221832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정량적 우선순위 도출 시스템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150" y="2750572"/>
            <a:ext cx="4161762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매우 높음 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(80-100):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즉시 개선 필요 지역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최우선 처리 대상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150" y="3248836"/>
            <a:ext cx="3575096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높음 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(60-79):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우선 개선 필요 지역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,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단기 계획 수립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150" y="3716740"/>
            <a:ext cx="4496914" cy="241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5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단계 레벨 시스템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으로 위험 지수에 따른 체계적인 우선순위 분류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150" y="4245364"/>
            <a:ext cx="5326610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행정 효율성 극대화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1">
                <a:solidFill>
                  <a:srgbClr val="6B4C57"/>
                </a:solidFill>
                <a:latin typeface="Unbounded"/>
              </a:rPr>
              <a:t> </a:t>
            </a:r>
            <a:r>
              <a:rPr sz="1139" b="0" i="1">
                <a:solidFill>
                  <a:srgbClr val="6B4C57"/>
                </a:solidFill>
                <a:latin typeface="Microsoft YaHei"/>
              </a:rPr>
              <a:t>실제 사고 위험도가 높은 지역의 시민 건의사항을 우선 처리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6853" y="4972223"/>
            <a:ext cx="8559541" cy="4342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99" b="1" i="1">
                <a:solidFill>
                  <a:srgbClr val="411B38"/>
                </a:solidFill>
                <a:latin typeface="Microsoft YaHei"/>
              </a:rPr>
              <a:t>기대 효과</a:t>
            </a:r>
            <a:r>
              <a:rPr sz="1199" b="1" i="1">
                <a:solidFill>
                  <a:srgbClr val="411B38"/>
                </a:solidFill>
                <a:latin typeface="Unbounded"/>
              </a:rPr>
              <a:t>: 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 </a:t>
            </a:r>
            <a:r>
              <a:rPr sz="1199" b="0" i="1">
                <a:solidFill>
                  <a:srgbClr val="411B38"/>
                </a:solidFill>
                <a:latin typeface="Microsoft YaHei"/>
              </a:rPr>
              <a:t>데이터 기반의 객관적 우선순위 설정으로 한정된 예산과 인력을 가장 효과적인 곳에 집중 투입하여 보행자 안전 개선의 실질적 성과를 달성할 수 있습니다</a:t>
            </a:r>
            <a:r>
              <a:rPr sz="1199" b="0" i="1">
                <a:solidFill>
                  <a:srgbClr val="411B38"/>
                </a:solidFill>
                <a:latin typeface="Unbounded"/>
              </a:rPr>
              <a:t>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56" y="2356485"/>
            <a:ext cx="228594" cy="2000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556" y="3094892"/>
            <a:ext cx="228594" cy="182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3865" y="3827585"/>
            <a:ext cx="224427" cy="1787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6" y="2365057"/>
            <a:ext cx="228594" cy="182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0179" y="3072033"/>
            <a:ext cx="157158" cy="22859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036" y="3847586"/>
            <a:ext cx="228594" cy="13714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97263" y="5026990"/>
            <a:ext cx="7397168" cy="11459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5669" y="304792"/>
            <a:ext cx="2543225" cy="38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99" b="1" i="0">
                <a:solidFill>
                  <a:srgbClr val="411B38"/>
                </a:solidFill>
                <a:latin typeface="Microsoft YaHei"/>
              </a:rPr>
              <a:t>결론 및 향후 계획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556" y="1751663"/>
            <a:ext cx="1736862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프로젝트 성과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150" y="2361247"/>
            <a:ext cx="3763061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데이터 기반 객관적 평가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위험 및 안전 지수를 통한 정량적 교통 안전 평가 지표 마련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150" y="3091082"/>
            <a:ext cx="3688798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시민 참여형 플랫폼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지역 주민의 직접적인 참여를 통한 협력적 안전 관리 체계 구축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150" y="3820917"/>
            <a:ext cx="3795207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확장 가능한 아키텍처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마이크로서비스 기반으로 전국 단위 확장이 용이한 시스템 설계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36" y="1751663"/>
            <a:ext cx="1793564" cy="285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99" b="1" i="0">
                <a:solidFill>
                  <a:srgbClr val="411B38"/>
                </a:solidFill>
                <a:latin typeface="Microsoft YaHei"/>
              </a:rPr>
              <a:t>향후 발전 방향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630" y="2361247"/>
            <a:ext cx="3809643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Unbounded"/>
              </a:rPr>
              <a:t>AI </a:t>
            </a:r>
            <a:r>
              <a:rPr sz="1139" b="1" i="0">
                <a:solidFill>
                  <a:srgbClr val="411B38"/>
                </a:solidFill>
                <a:latin typeface="Microsoft YaHei"/>
              </a:rPr>
              <a:t>예측 모델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머신러닝을 활용한 사고 예측 및 예방적 안전 관리 시스템 도입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4481" y="3091082"/>
            <a:ext cx="3910249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모바일 앱 개발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실시간 위험 알림과 시민 신고 기능을 포함한 네이티브 앱 제공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630" y="3820917"/>
            <a:ext cx="3835985" cy="412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9" b="1" i="0">
                <a:solidFill>
                  <a:srgbClr val="411B38"/>
                </a:solidFill>
                <a:latin typeface="Microsoft YaHei"/>
              </a:rPr>
              <a:t>공공기관 연계</a:t>
            </a:r>
            <a:r>
              <a:rPr sz="1139" b="1" i="0">
                <a:solidFill>
                  <a:srgbClr val="411B38"/>
                </a:solidFill>
                <a:latin typeface="Unbounded"/>
              </a:rPr>
              <a:t>: </a:t>
            </a:r>
            <a:r>
              <a:rPr sz="1139" b="0" i="0">
                <a:solidFill>
                  <a:srgbClr val="411B38"/>
                </a:solidFill>
                <a:latin typeface="Unbounded"/>
              </a:rPr>
              <a:t> </a:t>
            </a:r>
            <a:r>
              <a:rPr sz="1139" b="0" i="0">
                <a:solidFill>
                  <a:srgbClr val="411B38"/>
                </a:solidFill>
                <a:latin typeface="Microsoft YaHei"/>
              </a:rPr>
              <a:t>지자체 및 경찰청과의 데이터 연동을 통한 실질적 정책 반영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2913" y="5284159"/>
            <a:ext cx="2983029" cy="238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99" b="1" i="0">
                <a:solidFill>
                  <a:srgbClr val="411B38"/>
                </a:solidFill>
                <a:latin typeface="Unbounded"/>
              </a:rPr>
              <a:t>KDT 03</a:t>
            </a:r>
            <a:r>
              <a:rPr sz="1499" b="1" i="0">
                <a:solidFill>
                  <a:srgbClr val="411B38"/>
                </a:solidFill>
                <a:latin typeface="Microsoft YaHei"/>
              </a:rPr>
              <a:t>기 미니 프로젝트 성취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5857" y="5731823"/>
            <a:ext cx="7135422" cy="180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39" b="0" i="0">
                <a:solidFill>
                  <a:srgbClr val="411B38"/>
                </a:solidFill>
                <a:latin typeface="Microsoft YaHei"/>
              </a:rPr>
              <a:t>실무적 데이터 플랫폼 구현을 통해 사회적 가치 창출과 기술적 역량 향상을 동시에 달성한 의미 있는 프로젝트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