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embeddedFontLst>
    <p:embeddedFont>
      <p:font typeface="Microsoft YaHei" panose="020B0503020204020204" pitchFamily="34" charset="-122"/>
      <p:regular r:id="rId11"/>
      <p:bold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Unbounded" panose="020B0600000101010101" charset="0"/>
      <p:regular r:id="rId17"/>
      <p:bold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5.png"/><Relationship Id="rId7" Type="http://schemas.openxmlformats.org/officeDocument/2006/relationships/image" Target="../media/image38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253" y="2264958"/>
            <a:ext cx="457188" cy="40003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4015" y="2998365"/>
            <a:ext cx="6557970" cy="5714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599" b="1" i="0" dirty="0" err="1">
                <a:solidFill>
                  <a:srgbClr val="411B38"/>
                </a:solidFill>
                <a:latin typeface="Microsoft YaHei"/>
              </a:rPr>
              <a:t>보행자</a:t>
            </a:r>
            <a:r>
              <a:rPr sz="3599" b="1" i="0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3599" b="1" i="0" dirty="0" err="1">
                <a:solidFill>
                  <a:srgbClr val="411B38"/>
                </a:solidFill>
                <a:latin typeface="Microsoft YaHei"/>
              </a:rPr>
              <a:t>교통안전</a:t>
            </a:r>
            <a:r>
              <a:rPr sz="3599" b="1" i="0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3599" b="1" i="0" dirty="0" err="1">
                <a:solidFill>
                  <a:srgbClr val="411B38"/>
                </a:solidFill>
                <a:latin typeface="Microsoft YaHei"/>
              </a:rPr>
              <a:t>분석</a:t>
            </a:r>
            <a:r>
              <a:rPr sz="3599" b="1" i="0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3599" b="1" i="0" dirty="0" err="1">
                <a:solidFill>
                  <a:srgbClr val="411B38"/>
                </a:solidFill>
                <a:latin typeface="Microsoft YaHei"/>
              </a:rPr>
              <a:t>대시보드</a:t>
            </a:r>
            <a:r>
              <a:rPr sz="3599" b="1" i="0" dirty="0">
                <a:solidFill>
                  <a:srgbClr val="411B38"/>
                </a:solidFill>
                <a:latin typeface="Microsoft YaHei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12127" y="3836544"/>
            <a:ext cx="5076035" cy="2857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799" b="0" i="0" dirty="0" err="1">
                <a:solidFill>
                  <a:srgbClr val="411B38">
                    <a:alpha val="80000"/>
                  </a:srgbClr>
                </a:solidFill>
                <a:latin typeface="Microsoft YaHei"/>
              </a:rPr>
              <a:t>데이터</a:t>
            </a:r>
            <a:r>
              <a:rPr sz="1799" b="0" i="0" dirty="0">
                <a:solidFill>
                  <a:srgbClr val="411B38">
                    <a:alpha val="80000"/>
                  </a:srgbClr>
                </a:solidFill>
                <a:latin typeface="Microsoft YaHei"/>
              </a:rPr>
              <a:t> </a:t>
            </a:r>
            <a:r>
              <a:rPr sz="1799" b="0" i="0" dirty="0" err="1">
                <a:solidFill>
                  <a:srgbClr val="411B38">
                    <a:alpha val="80000"/>
                  </a:srgbClr>
                </a:solidFill>
                <a:latin typeface="Microsoft YaHei"/>
              </a:rPr>
              <a:t>기반</a:t>
            </a:r>
            <a:r>
              <a:rPr sz="1799" b="0" i="0" dirty="0">
                <a:solidFill>
                  <a:srgbClr val="411B38">
                    <a:alpha val="80000"/>
                  </a:srgbClr>
                </a:solidFill>
                <a:latin typeface="Microsoft YaHei"/>
              </a:rPr>
              <a:t> </a:t>
            </a:r>
            <a:r>
              <a:rPr sz="1799" b="0" i="0" dirty="0" err="1">
                <a:solidFill>
                  <a:srgbClr val="411B38">
                    <a:alpha val="80000"/>
                  </a:srgbClr>
                </a:solidFill>
                <a:latin typeface="Microsoft YaHei"/>
              </a:rPr>
              <a:t>교통</a:t>
            </a:r>
            <a:r>
              <a:rPr sz="1799" b="0" i="0" dirty="0">
                <a:solidFill>
                  <a:srgbClr val="411B38">
                    <a:alpha val="80000"/>
                  </a:srgbClr>
                </a:solidFill>
                <a:latin typeface="Microsoft YaHei"/>
              </a:rPr>
              <a:t> </a:t>
            </a:r>
            <a:r>
              <a:rPr sz="1799" b="0" i="0" dirty="0" err="1">
                <a:solidFill>
                  <a:srgbClr val="411B38">
                    <a:alpha val="80000"/>
                  </a:srgbClr>
                </a:solidFill>
                <a:latin typeface="Microsoft YaHei"/>
              </a:rPr>
              <a:t>안전</a:t>
            </a:r>
            <a:r>
              <a:rPr sz="1799" b="0" i="0" dirty="0">
                <a:solidFill>
                  <a:srgbClr val="411B38">
                    <a:alpha val="80000"/>
                  </a:srgbClr>
                </a:solidFill>
                <a:latin typeface="Microsoft YaHei"/>
              </a:rPr>
              <a:t> </a:t>
            </a:r>
            <a:r>
              <a:rPr sz="1799" b="0" i="0" dirty="0" err="1">
                <a:solidFill>
                  <a:srgbClr val="411B38">
                    <a:alpha val="80000"/>
                  </a:srgbClr>
                </a:solidFill>
                <a:latin typeface="Microsoft YaHei"/>
              </a:rPr>
              <a:t>개선을</a:t>
            </a:r>
            <a:r>
              <a:rPr sz="1799" b="0" i="0" dirty="0">
                <a:solidFill>
                  <a:srgbClr val="411B38">
                    <a:alpha val="80000"/>
                  </a:srgbClr>
                </a:solidFill>
                <a:latin typeface="Microsoft YaHei"/>
              </a:rPr>
              <a:t> </a:t>
            </a:r>
            <a:r>
              <a:rPr sz="1799" b="0" i="0" dirty="0" err="1">
                <a:solidFill>
                  <a:srgbClr val="411B38">
                    <a:alpha val="80000"/>
                  </a:srgbClr>
                </a:solidFill>
                <a:latin typeface="Microsoft YaHei"/>
              </a:rPr>
              <a:t>위한</a:t>
            </a:r>
            <a:r>
              <a:rPr sz="1799" b="0" i="0" dirty="0">
                <a:solidFill>
                  <a:srgbClr val="411B38">
                    <a:alpha val="80000"/>
                  </a:srgbClr>
                </a:solidFill>
                <a:latin typeface="Microsoft YaHei"/>
              </a:rPr>
              <a:t> </a:t>
            </a:r>
            <a:r>
              <a:rPr sz="1799" b="0" i="0" dirty="0" err="1">
                <a:solidFill>
                  <a:srgbClr val="411B38">
                    <a:alpha val="80000"/>
                  </a:srgbClr>
                </a:solidFill>
                <a:latin typeface="Microsoft YaHei"/>
              </a:rPr>
              <a:t>통합</a:t>
            </a:r>
            <a:r>
              <a:rPr sz="1799" b="0" i="0" dirty="0">
                <a:solidFill>
                  <a:srgbClr val="411B38">
                    <a:alpha val="80000"/>
                  </a:srgbClr>
                </a:solidFill>
                <a:latin typeface="Microsoft YaHei"/>
              </a:rPr>
              <a:t> </a:t>
            </a:r>
            <a:r>
              <a:rPr sz="1799" b="0" i="0" dirty="0" err="1">
                <a:solidFill>
                  <a:srgbClr val="411B38">
                    <a:alpha val="80000"/>
                  </a:srgbClr>
                </a:solidFill>
                <a:latin typeface="Microsoft YaHei"/>
              </a:rPr>
              <a:t>플랫폼</a:t>
            </a:r>
            <a:r>
              <a:rPr sz="1799" b="0" i="0" dirty="0">
                <a:solidFill>
                  <a:srgbClr val="411B38">
                    <a:alpha val="80000"/>
                  </a:srgbClr>
                </a:solidFill>
                <a:latin typeface="Microsoft YaHei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9258" y="6353016"/>
            <a:ext cx="2508620" cy="180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39" b="0" i="0">
                <a:solidFill>
                  <a:srgbClr val="411B38">
                    <a:alpha val="70000"/>
                  </a:srgbClr>
                </a:solidFill>
                <a:latin typeface="Unbounded"/>
              </a:rPr>
              <a:t>KDT 03</a:t>
            </a:r>
            <a:r>
              <a:rPr sz="1139" b="0" i="0">
                <a:solidFill>
                  <a:srgbClr val="411B38">
                    <a:alpha val="70000"/>
                  </a:srgbClr>
                </a:solidFill>
                <a:latin typeface="Microsoft YaHei"/>
              </a:rPr>
              <a:t>기 미니 프로젝트 </a:t>
            </a:r>
            <a:r>
              <a:rPr sz="1139" b="0" i="0">
                <a:solidFill>
                  <a:srgbClr val="411B38">
                    <a:alpha val="70000"/>
                  </a:srgbClr>
                </a:solidFill>
                <a:latin typeface="Unbounded"/>
              </a:rPr>
              <a:t>| 2025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5687" y="2953569"/>
            <a:ext cx="228577" cy="20001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5671" y="3451833"/>
            <a:ext cx="228594" cy="20001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8532" y="3935810"/>
            <a:ext cx="142871" cy="22859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5671" y="4456933"/>
            <a:ext cx="228594" cy="182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5671" y="5046635"/>
            <a:ext cx="6500352" cy="4481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32427" y="304792"/>
            <a:ext cx="3743999" cy="4476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849" b="1" i="0" dirty="0" err="1">
                <a:solidFill>
                  <a:srgbClr val="411B38"/>
                </a:solidFill>
                <a:latin typeface="Microsoft YaHei"/>
              </a:rPr>
              <a:t>프로젝트</a:t>
            </a:r>
            <a:r>
              <a:rPr sz="2849" b="1" i="0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2849" b="1" i="0" dirty="0" err="1">
                <a:solidFill>
                  <a:srgbClr val="411B38"/>
                </a:solidFill>
                <a:latin typeface="Microsoft YaHei"/>
              </a:rPr>
              <a:t>개요</a:t>
            </a:r>
            <a:r>
              <a:rPr sz="2849" b="1" i="0" dirty="0">
                <a:solidFill>
                  <a:srgbClr val="411B38"/>
                </a:solidFill>
                <a:latin typeface="Microsoft YaHei"/>
              </a:rPr>
              <a:t> 및 </a:t>
            </a:r>
            <a:r>
              <a:rPr sz="2849" b="1" i="0" dirty="0" err="1">
                <a:solidFill>
                  <a:srgbClr val="411B38"/>
                </a:solidFill>
                <a:latin typeface="Microsoft YaHei"/>
              </a:rPr>
              <a:t>배경</a:t>
            </a:r>
            <a:r>
              <a:rPr sz="2849" b="1" i="0" dirty="0">
                <a:solidFill>
                  <a:srgbClr val="411B38"/>
                </a:solidFill>
                <a:latin typeface="Microsoft YaHei"/>
              </a:rPr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45671" y="2272548"/>
            <a:ext cx="2415469" cy="3524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79" b="1" i="0" dirty="0" err="1">
                <a:solidFill>
                  <a:srgbClr val="411B38"/>
                </a:solidFill>
                <a:latin typeface="Microsoft YaHei"/>
              </a:rPr>
              <a:t>추진</a:t>
            </a:r>
            <a:r>
              <a:rPr sz="2279" b="1" i="0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2279" b="1" i="0" dirty="0" err="1">
                <a:solidFill>
                  <a:srgbClr val="411B38"/>
                </a:solidFill>
                <a:latin typeface="Microsoft YaHei"/>
              </a:rPr>
              <a:t>배경</a:t>
            </a:r>
            <a:r>
              <a:rPr sz="2279" b="1" i="0" dirty="0">
                <a:solidFill>
                  <a:srgbClr val="411B38"/>
                </a:solidFill>
                <a:latin typeface="Microsoft YaHei"/>
              </a:rPr>
              <a:t> 및 </a:t>
            </a:r>
            <a:r>
              <a:rPr sz="2279" b="1" i="0" dirty="0" err="1">
                <a:solidFill>
                  <a:srgbClr val="411B38"/>
                </a:solidFill>
                <a:latin typeface="Microsoft YaHei"/>
              </a:rPr>
              <a:t>목적</a:t>
            </a:r>
            <a:r>
              <a:rPr sz="2279" b="1" i="0" dirty="0">
                <a:solidFill>
                  <a:srgbClr val="411B38"/>
                </a:solidFill>
                <a:latin typeface="Microsoft YaHei"/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74265" y="2927971"/>
            <a:ext cx="4606598" cy="175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39" b="0" i="0" dirty="0" err="1">
                <a:solidFill>
                  <a:srgbClr val="411B38"/>
                </a:solidFill>
                <a:latin typeface="Microsoft YaHei"/>
              </a:rPr>
              <a:t>전국</a:t>
            </a:r>
            <a:r>
              <a:rPr sz="1139" b="0" i="0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139" b="0" i="0" dirty="0" err="1">
                <a:solidFill>
                  <a:srgbClr val="411B38"/>
                </a:solidFill>
                <a:latin typeface="Microsoft YaHei"/>
              </a:rPr>
              <a:t>보행자</a:t>
            </a:r>
            <a:r>
              <a:rPr sz="1139" b="0" i="0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139" b="0" i="0" dirty="0" err="1">
                <a:solidFill>
                  <a:srgbClr val="411B38"/>
                </a:solidFill>
                <a:latin typeface="Microsoft YaHei"/>
              </a:rPr>
              <a:t>사고</a:t>
            </a:r>
            <a:r>
              <a:rPr sz="1139" b="0" i="0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139" b="0" i="0" dirty="0" err="1">
                <a:solidFill>
                  <a:srgbClr val="411B38"/>
                </a:solidFill>
                <a:latin typeface="Microsoft YaHei"/>
              </a:rPr>
              <a:t>데이터와</a:t>
            </a:r>
            <a:r>
              <a:rPr sz="1139" b="0" i="0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139" b="0" i="0" dirty="0" err="1">
                <a:solidFill>
                  <a:srgbClr val="411B38"/>
                </a:solidFill>
                <a:latin typeface="Microsoft YaHei"/>
              </a:rPr>
              <a:t>교통</a:t>
            </a:r>
            <a:r>
              <a:rPr sz="1139" b="0" i="0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139" b="0" i="0" dirty="0" err="1">
                <a:solidFill>
                  <a:srgbClr val="411B38"/>
                </a:solidFill>
                <a:latin typeface="Microsoft YaHei"/>
              </a:rPr>
              <a:t>시설</a:t>
            </a:r>
            <a:r>
              <a:rPr sz="1139" b="0" i="0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139" b="0" i="0" dirty="0" err="1">
                <a:solidFill>
                  <a:srgbClr val="411B38"/>
                </a:solidFill>
                <a:latin typeface="Microsoft YaHei"/>
              </a:rPr>
              <a:t>정보의</a:t>
            </a:r>
            <a:r>
              <a:rPr sz="1139" b="0" i="0" dirty="0">
                <a:solidFill>
                  <a:srgbClr val="411B38"/>
                </a:solidFill>
                <a:latin typeface="Unbounded"/>
              </a:rPr>
              <a:t> </a:t>
            </a:r>
            <a:r>
              <a:rPr sz="1139" b="0" i="0" dirty="0" err="1">
                <a:solidFill>
                  <a:srgbClr val="411B38"/>
                </a:solidFill>
                <a:latin typeface="Microsoft YaHei"/>
              </a:rPr>
              <a:t>통합</a:t>
            </a:r>
            <a:r>
              <a:rPr sz="1139" b="0" i="0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139" b="0" i="0" dirty="0" err="1">
                <a:solidFill>
                  <a:srgbClr val="411B38"/>
                </a:solidFill>
                <a:latin typeface="Microsoft YaHei"/>
              </a:rPr>
              <a:t>분석</a:t>
            </a:r>
            <a:r>
              <a:rPr sz="1139" b="0" i="0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139" b="0" i="0" dirty="0" err="1">
                <a:solidFill>
                  <a:srgbClr val="411B38"/>
                </a:solidFill>
                <a:latin typeface="Microsoft YaHei"/>
              </a:rPr>
              <a:t>필요성</a:t>
            </a:r>
            <a:endParaRPr sz="1139" b="0" i="0" dirty="0">
              <a:solidFill>
                <a:srgbClr val="411B38"/>
              </a:solidFill>
              <a:latin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074265" y="3426235"/>
            <a:ext cx="4134081" cy="175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39" b="0" i="0" dirty="0" err="1">
                <a:solidFill>
                  <a:srgbClr val="411B38"/>
                </a:solidFill>
                <a:latin typeface="Microsoft YaHei"/>
              </a:rPr>
              <a:t>보행자</a:t>
            </a:r>
            <a:r>
              <a:rPr sz="1139" b="0" i="0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139" b="0" i="0" dirty="0" err="1">
                <a:solidFill>
                  <a:srgbClr val="411B38"/>
                </a:solidFill>
                <a:latin typeface="Microsoft YaHei"/>
              </a:rPr>
              <a:t>사고</a:t>
            </a:r>
            <a:r>
              <a:rPr sz="1139" b="0" i="0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139" b="0" i="0" dirty="0" err="1">
                <a:solidFill>
                  <a:srgbClr val="411B38"/>
                </a:solidFill>
                <a:latin typeface="Microsoft YaHei"/>
              </a:rPr>
              <a:t>데이터의</a:t>
            </a:r>
            <a:r>
              <a:rPr sz="1139" b="0" i="0" dirty="0">
                <a:solidFill>
                  <a:srgbClr val="411B38"/>
                </a:solidFill>
                <a:latin typeface="Unbounded"/>
              </a:rPr>
              <a:t> </a:t>
            </a:r>
            <a:r>
              <a:rPr sz="1139" b="0" i="0" dirty="0" err="1">
                <a:solidFill>
                  <a:srgbClr val="411B38"/>
                </a:solidFill>
                <a:latin typeface="Microsoft YaHei"/>
              </a:rPr>
              <a:t>시각화</a:t>
            </a:r>
            <a:r>
              <a:rPr sz="1139" b="0" i="0" dirty="0">
                <a:solidFill>
                  <a:srgbClr val="411B38"/>
                </a:solidFill>
                <a:latin typeface="Microsoft YaHei"/>
              </a:rPr>
              <a:t> 및 </a:t>
            </a:r>
            <a:r>
              <a:rPr sz="1139" b="0" i="0" dirty="0" err="1">
                <a:solidFill>
                  <a:srgbClr val="411B38"/>
                </a:solidFill>
                <a:latin typeface="Microsoft YaHei"/>
              </a:rPr>
              <a:t>정밀</a:t>
            </a:r>
            <a:r>
              <a:rPr sz="1139" b="0" i="0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139" b="0" i="0" dirty="0" err="1">
                <a:solidFill>
                  <a:srgbClr val="411B38"/>
                </a:solidFill>
                <a:latin typeface="Microsoft YaHei"/>
              </a:rPr>
              <a:t>분석을</a:t>
            </a:r>
            <a:r>
              <a:rPr sz="1139" b="0" i="0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139" b="0" i="0" dirty="0" err="1">
                <a:solidFill>
                  <a:srgbClr val="411B38"/>
                </a:solidFill>
                <a:latin typeface="Microsoft YaHei"/>
              </a:rPr>
              <a:t>통한</a:t>
            </a:r>
            <a:r>
              <a:rPr sz="1139" b="0" i="0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139" b="0" i="0" dirty="0" err="1">
                <a:solidFill>
                  <a:srgbClr val="411B38"/>
                </a:solidFill>
                <a:latin typeface="Microsoft YaHei"/>
              </a:rPr>
              <a:t>패턴</a:t>
            </a:r>
            <a:r>
              <a:rPr sz="1139" b="0" i="0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139" b="0" i="0" dirty="0" err="1">
                <a:solidFill>
                  <a:srgbClr val="411B38"/>
                </a:solidFill>
                <a:latin typeface="Microsoft YaHei"/>
              </a:rPr>
              <a:t>발견</a:t>
            </a:r>
            <a:r>
              <a:rPr sz="1139" b="0" i="0" dirty="0">
                <a:solidFill>
                  <a:srgbClr val="411B38"/>
                </a:solidFill>
                <a:latin typeface="Microsoft YaHei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74265" y="3924499"/>
            <a:ext cx="4513880" cy="175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39" b="0" i="0" dirty="0" err="1">
                <a:solidFill>
                  <a:srgbClr val="411B38"/>
                </a:solidFill>
                <a:latin typeface="Microsoft YaHei"/>
              </a:rPr>
              <a:t>교통</a:t>
            </a:r>
            <a:r>
              <a:rPr sz="1139" b="0" i="0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139" b="0" i="0" dirty="0" err="1">
                <a:solidFill>
                  <a:srgbClr val="411B38"/>
                </a:solidFill>
                <a:latin typeface="Microsoft YaHei"/>
              </a:rPr>
              <a:t>시설</a:t>
            </a:r>
            <a:r>
              <a:rPr sz="1139" b="0" i="0" dirty="0">
                <a:solidFill>
                  <a:srgbClr val="411B38"/>
                </a:solidFill>
                <a:latin typeface="Unbounded"/>
              </a:rPr>
              <a:t>(</a:t>
            </a:r>
            <a:r>
              <a:rPr sz="1139" b="0" i="0" dirty="0" err="1">
                <a:solidFill>
                  <a:srgbClr val="411B38"/>
                </a:solidFill>
                <a:latin typeface="Microsoft YaHei"/>
              </a:rPr>
              <a:t>횡단보도</a:t>
            </a:r>
            <a:r>
              <a:rPr sz="1139" b="0" i="0" dirty="0">
                <a:solidFill>
                  <a:srgbClr val="411B38"/>
                </a:solidFill>
                <a:latin typeface="Unbounded"/>
              </a:rPr>
              <a:t>, </a:t>
            </a:r>
            <a:r>
              <a:rPr sz="1139" b="0" i="0" dirty="0" err="1">
                <a:solidFill>
                  <a:srgbClr val="411B38"/>
                </a:solidFill>
                <a:latin typeface="Microsoft YaHei"/>
              </a:rPr>
              <a:t>신호등</a:t>
            </a:r>
            <a:r>
              <a:rPr sz="1139" b="0" i="0" dirty="0">
                <a:solidFill>
                  <a:srgbClr val="411B38"/>
                </a:solidFill>
                <a:latin typeface="Unbounded"/>
              </a:rPr>
              <a:t>) </a:t>
            </a:r>
            <a:r>
              <a:rPr sz="1139" b="0" i="0" dirty="0" err="1">
                <a:solidFill>
                  <a:srgbClr val="411B38"/>
                </a:solidFill>
                <a:latin typeface="Microsoft YaHei"/>
              </a:rPr>
              <a:t>현황의</a:t>
            </a:r>
            <a:r>
              <a:rPr sz="1139" b="0" i="0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139" b="0" i="0" dirty="0" err="1">
                <a:solidFill>
                  <a:srgbClr val="411B38"/>
                </a:solidFill>
                <a:latin typeface="Microsoft YaHei"/>
              </a:rPr>
              <a:t>정량적</a:t>
            </a:r>
            <a:r>
              <a:rPr sz="1139" b="0" i="0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139" b="0" i="0" dirty="0" err="1">
                <a:solidFill>
                  <a:srgbClr val="411B38"/>
                </a:solidFill>
                <a:latin typeface="Microsoft YaHei"/>
              </a:rPr>
              <a:t>파악</a:t>
            </a:r>
            <a:r>
              <a:rPr sz="1139" b="0" i="0" dirty="0">
                <a:solidFill>
                  <a:srgbClr val="411B38"/>
                </a:solidFill>
                <a:latin typeface="Microsoft YaHei"/>
              </a:rPr>
              <a:t> 및 </a:t>
            </a:r>
            <a:r>
              <a:rPr sz="1139" b="0" i="0" dirty="0" err="1">
                <a:solidFill>
                  <a:srgbClr val="411B38"/>
                </a:solidFill>
                <a:latin typeface="Microsoft YaHei"/>
              </a:rPr>
              <a:t>취약지역</a:t>
            </a:r>
            <a:r>
              <a:rPr sz="1139" b="0" i="0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139" b="0" i="0" dirty="0" err="1">
                <a:solidFill>
                  <a:srgbClr val="411B38"/>
                </a:solidFill>
                <a:latin typeface="Microsoft YaHei"/>
              </a:rPr>
              <a:t>식별</a:t>
            </a:r>
            <a:r>
              <a:rPr sz="1139" b="0" i="0" dirty="0">
                <a:solidFill>
                  <a:srgbClr val="411B38"/>
                </a:solidFill>
                <a:latin typeface="Microsoft YaHei"/>
              </a:rP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4265" y="4422763"/>
            <a:ext cx="4461792" cy="2416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39" b="0" i="0">
                <a:solidFill>
                  <a:srgbClr val="411B38"/>
                </a:solidFill>
                <a:latin typeface="Microsoft YaHei"/>
              </a:rPr>
              <a:t>시민 참여형 교통 안전 개선 건의 시스템을 통한 </a:t>
            </a:r>
            <a:r>
              <a:rPr sz="1139" b="0" i="0">
                <a:solidFill>
                  <a:srgbClr val="411B38"/>
                </a:solidFill>
                <a:latin typeface="Unbounded"/>
              </a:rPr>
              <a:t> </a:t>
            </a:r>
            <a:r>
              <a:rPr sz="1139" b="0" i="0">
                <a:solidFill>
                  <a:srgbClr val="411B38"/>
                </a:solidFill>
                <a:latin typeface="Microsoft YaHei"/>
              </a:rPr>
              <a:t>협력적 안전 관리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15578" y="5197738"/>
            <a:ext cx="6456914" cy="1714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79" b="1" i="1" dirty="0" err="1">
                <a:solidFill>
                  <a:srgbClr val="411B38"/>
                </a:solidFill>
                <a:latin typeface="Microsoft YaHei"/>
              </a:rPr>
              <a:t>핵심</a:t>
            </a:r>
            <a:r>
              <a:rPr sz="1079" b="1" i="1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079" b="1" i="1" dirty="0" err="1">
                <a:solidFill>
                  <a:srgbClr val="411B38"/>
                </a:solidFill>
                <a:latin typeface="Microsoft YaHei"/>
              </a:rPr>
              <a:t>가치</a:t>
            </a:r>
            <a:r>
              <a:rPr sz="1079" b="1" i="1" dirty="0">
                <a:solidFill>
                  <a:srgbClr val="411B38"/>
                </a:solidFill>
                <a:latin typeface="Unbounded"/>
              </a:rPr>
              <a:t>: </a:t>
            </a:r>
            <a:r>
              <a:rPr sz="1079" b="0" i="1" dirty="0">
                <a:solidFill>
                  <a:srgbClr val="411B38"/>
                </a:solidFill>
                <a:latin typeface="Unbounded"/>
              </a:rPr>
              <a:t> </a:t>
            </a:r>
            <a:r>
              <a:rPr sz="1079" b="0" i="1" dirty="0" err="1">
                <a:solidFill>
                  <a:srgbClr val="411B38"/>
                </a:solidFill>
                <a:latin typeface="Microsoft YaHei"/>
              </a:rPr>
              <a:t>데이터</a:t>
            </a:r>
            <a:r>
              <a:rPr sz="1079" b="0" i="1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079" b="0" i="1" dirty="0" err="1">
                <a:solidFill>
                  <a:srgbClr val="411B38"/>
                </a:solidFill>
                <a:latin typeface="Microsoft YaHei"/>
              </a:rPr>
              <a:t>기반의</a:t>
            </a:r>
            <a:r>
              <a:rPr sz="1079" b="0" i="1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079" b="0" i="1" dirty="0" err="1">
                <a:solidFill>
                  <a:srgbClr val="411B38"/>
                </a:solidFill>
                <a:latin typeface="Microsoft YaHei"/>
              </a:rPr>
              <a:t>객관적</a:t>
            </a:r>
            <a:r>
              <a:rPr sz="1079" b="0" i="1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079" b="0" i="1" dirty="0" err="1">
                <a:solidFill>
                  <a:srgbClr val="411B38"/>
                </a:solidFill>
                <a:latin typeface="Microsoft YaHei"/>
              </a:rPr>
              <a:t>분석과</a:t>
            </a:r>
            <a:r>
              <a:rPr sz="1079" b="0" i="1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079" b="0" i="1" dirty="0" err="1">
                <a:solidFill>
                  <a:srgbClr val="411B38"/>
                </a:solidFill>
                <a:latin typeface="Microsoft YaHei"/>
              </a:rPr>
              <a:t>시민</a:t>
            </a:r>
            <a:r>
              <a:rPr sz="1079" b="0" i="1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079" b="0" i="1" dirty="0" err="1">
                <a:solidFill>
                  <a:srgbClr val="411B38"/>
                </a:solidFill>
                <a:latin typeface="Microsoft YaHei"/>
              </a:rPr>
              <a:t>참여를</a:t>
            </a:r>
            <a:r>
              <a:rPr sz="1079" b="0" i="1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079" b="0" i="1" dirty="0" err="1">
                <a:solidFill>
                  <a:srgbClr val="411B38"/>
                </a:solidFill>
                <a:latin typeface="Microsoft YaHei"/>
              </a:rPr>
              <a:t>결합하여</a:t>
            </a:r>
            <a:r>
              <a:rPr sz="1079" b="0" i="1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079" b="0" i="1" dirty="0" err="1">
                <a:solidFill>
                  <a:srgbClr val="411B38"/>
                </a:solidFill>
                <a:latin typeface="Microsoft YaHei"/>
              </a:rPr>
              <a:t>보행자</a:t>
            </a:r>
            <a:r>
              <a:rPr sz="1079" b="0" i="1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079" b="0" i="1" dirty="0" err="1">
                <a:solidFill>
                  <a:srgbClr val="411B38"/>
                </a:solidFill>
                <a:latin typeface="Microsoft YaHei"/>
              </a:rPr>
              <a:t>교통안전</a:t>
            </a:r>
            <a:r>
              <a:rPr sz="1079" b="0" i="1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079" b="0" i="1" dirty="0" err="1">
                <a:solidFill>
                  <a:srgbClr val="411B38"/>
                </a:solidFill>
                <a:latin typeface="Microsoft YaHei"/>
              </a:rPr>
              <a:t>개선의</a:t>
            </a:r>
            <a:r>
              <a:rPr sz="1079" b="0" i="1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079" b="0" i="1" dirty="0" err="1">
                <a:solidFill>
                  <a:srgbClr val="411B38"/>
                </a:solidFill>
                <a:latin typeface="Microsoft YaHei"/>
              </a:rPr>
              <a:t>효율성을</a:t>
            </a:r>
            <a:r>
              <a:rPr sz="1079" b="0" i="1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079" b="0" i="1" dirty="0" err="1">
                <a:solidFill>
                  <a:srgbClr val="411B38"/>
                </a:solidFill>
                <a:latin typeface="Microsoft YaHei"/>
              </a:rPr>
              <a:t>극대화</a:t>
            </a:r>
            <a:r>
              <a:rPr sz="1079" b="0" i="1" dirty="0">
                <a:solidFill>
                  <a:srgbClr val="411B38"/>
                </a:solidFill>
                <a:latin typeface="Microsoft YaHei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765703" y="304792"/>
            <a:ext cx="4888727" cy="47623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999" b="1" i="0">
                <a:solidFill>
                  <a:srgbClr val="411B38"/>
                </a:solidFill>
                <a:latin typeface="Microsoft YaHei"/>
              </a:rPr>
              <a:t>기술 스택 </a:t>
            </a:r>
            <a:r>
              <a:rPr sz="2999" b="1" i="0">
                <a:solidFill>
                  <a:srgbClr val="411B38"/>
                </a:solidFill>
                <a:latin typeface="Unbounded"/>
              </a:rPr>
              <a:t>(Tech Stack) 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6B18771-68BF-4E1D-A108-1E8487909731}"/>
              </a:ext>
            </a:extLst>
          </p:cNvPr>
          <p:cNvGrpSpPr/>
          <p:nvPr/>
        </p:nvGrpSpPr>
        <p:grpSpPr>
          <a:xfrm>
            <a:off x="3215725" y="2033704"/>
            <a:ext cx="5988682" cy="3091808"/>
            <a:chOff x="3402349" y="2191439"/>
            <a:chExt cx="5988682" cy="3091808"/>
          </a:xfrm>
        </p:grpSpPr>
        <p:pic>
          <p:nvPicPr>
            <p:cNvPr id="2" name="Picture 1" descr="imag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02349" y="2899104"/>
              <a:ext cx="228594" cy="200030"/>
            </a:xfrm>
            <a:prstGeom prst="rect">
              <a:avLst/>
            </a:prstGeom>
          </p:spPr>
        </p:pic>
        <p:pic>
          <p:nvPicPr>
            <p:cNvPr id="3" name="Picture 2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02349" y="3409968"/>
              <a:ext cx="228594" cy="174809"/>
            </a:xfrm>
            <a:prstGeom prst="rect">
              <a:avLst/>
            </a:prstGeom>
          </p:spPr>
        </p:pic>
        <p:pic>
          <p:nvPicPr>
            <p:cNvPr id="4" name="Picture 3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02349" y="3895627"/>
              <a:ext cx="228594" cy="200019"/>
            </a:xfrm>
            <a:prstGeom prst="rect">
              <a:avLst/>
            </a:prstGeom>
          </p:spPr>
        </p:pic>
        <p:pic>
          <p:nvPicPr>
            <p:cNvPr id="5" name="Picture 4" descr="imag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16636" y="4379604"/>
              <a:ext cx="200019" cy="228594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3402349" y="2191439"/>
              <a:ext cx="1892476" cy="333366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2099" b="1" i="0">
                  <a:solidFill>
                    <a:srgbClr val="411B38"/>
                  </a:solidFill>
                  <a:latin typeface="Microsoft YaHei"/>
                </a:rPr>
                <a:t>핵심 기술 구성 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630944" y="2903861"/>
              <a:ext cx="5100397" cy="18097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1139" b="1" i="0">
                  <a:solidFill>
                    <a:srgbClr val="411B38"/>
                  </a:solidFill>
                  <a:latin typeface="Unbounded"/>
                </a:rPr>
                <a:t>Frontend: </a:t>
              </a:r>
              <a:r>
                <a:rPr sz="1139" b="0" i="0">
                  <a:solidFill>
                    <a:srgbClr val="6B4C57"/>
                  </a:solidFill>
                  <a:latin typeface="Unbounded"/>
                </a:rPr>
                <a:t> Next.js 16, TypeScript, React 19, Tailwind CSS 4 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630944" y="3402125"/>
              <a:ext cx="4373688" cy="18097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1139" b="1" i="0">
                  <a:solidFill>
                    <a:srgbClr val="411B38"/>
                  </a:solidFill>
                  <a:latin typeface="Microsoft YaHei"/>
                </a:rPr>
                <a:t>지도</a:t>
              </a:r>
              <a:r>
                <a:rPr sz="1139" b="1" i="0">
                  <a:solidFill>
                    <a:srgbClr val="411B38"/>
                  </a:solidFill>
                  <a:latin typeface="Unbounded"/>
                </a:rPr>
                <a:t>/</a:t>
              </a:r>
              <a:r>
                <a:rPr sz="1139" b="1" i="0">
                  <a:solidFill>
                    <a:srgbClr val="411B38"/>
                  </a:solidFill>
                  <a:latin typeface="Microsoft YaHei"/>
                </a:rPr>
                <a:t>차트</a:t>
              </a:r>
              <a:r>
                <a:rPr sz="1139" b="1" i="0">
                  <a:solidFill>
                    <a:srgbClr val="411B38"/>
                  </a:solidFill>
                  <a:latin typeface="Unbounded"/>
                </a:rPr>
                <a:t>: </a:t>
              </a:r>
              <a:r>
                <a:rPr sz="1139" b="0" i="0">
                  <a:solidFill>
                    <a:srgbClr val="6B4C57"/>
                  </a:solidFill>
                  <a:latin typeface="Unbounded"/>
                </a:rPr>
                <a:t> Leaflet </a:t>
              </a:r>
              <a:r>
                <a:rPr sz="1139" b="0" i="0">
                  <a:solidFill>
                    <a:srgbClr val="6B4C57"/>
                  </a:solidFill>
                  <a:latin typeface="Microsoft YaHei"/>
                </a:rPr>
                <a:t>인터랙티브 지도</a:t>
              </a:r>
              <a:r>
                <a:rPr sz="1139" b="0" i="0">
                  <a:solidFill>
                    <a:srgbClr val="6B4C57"/>
                  </a:solidFill>
                  <a:latin typeface="Unbounded"/>
                </a:rPr>
                <a:t>, Chart.js </a:t>
              </a:r>
              <a:r>
                <a:rPr sz="1139" b="0" i="0">
                  <a:solidFill>
                    <a:srgbClr val="6B4C57"/>
                  </a:solidFill>
                  <a:latin typeface="Microsoft YaHei"/>
                </a:rPr>
                <a:t>데이터 시각화 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630944" y="3900389"/>
              <a:ext cx="4812869" cy="18097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1139" b="1" i="0" dirty="0">
                  <a:solidFill>
                    <a:srgbClr val="411B38"/>
                  </a:solidFill>
                  <a:latin typeface="Unbounded"/>
                </a:rPr>
                <a:t>Backend: </a:t>
              </a:r>
              <a:r>
                <a:rPr sz="1139" b="0" i="0" dirty="0">
                  <a:solidFill>
                    <a:srgbClr val="6B4C57"/>
                  </a:solidFill>
                  <a:latin typeface="Unbounded"/>
                </a:rPr>
                <a:t> Spring Boot 3.5.8, Java 21, Spring Data JPA 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630944" y="4398654"/>
              <a:ext cx="3799077" cy="18097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1139" b="1" i="0" dirty="0">
                  <a:solidFill>
                    <a:srgbClr val="411B38"/>
                  </a:solidFill>
                  <a:latin typeface="Unbounded"/>
                </a:rPr>
                <a:t>Database: </a:t>
              </a:r>
              <a:r>
                <a:rPr sz="1139" b="0" i="0" dirty="0">
                  <a:solidFill>
                    <a:srgbClr val="6B4C57"/>
                  </a:solidFill>
                  <a:latin typeface="Unbounded"/>
                </a:rPr>
                <a:t> MySQL 8 </a:t>
              </a:r>
              <a:r>
                <a:rPr sz="1139" b="0" i="0" dirty="0" err="1">
                  <a:solidFill>
                    <a:srgbClr val="6B4C57"/>
                  </a:solidFill>
                  <a:latin typeface="Microsoft YaHei"/>
                </a:rPr>
                <a:t>공간</a:t>
              </a:r>
              <a:r>
                <a:rPr sz="1139" b="0" i="0" dirty="0">
                  <a:solidFill>
                    <a:srgbClr val="6B4C57"/>
                  </a:solidFill>
                  <a:latin typeface="Microsoft YaHei"/>
                </a:rPr>
                <a:t> </a:t>
              </a:r>
              <a:r>
                <a:rPr sz="1139" b="0" i="0" dirty="0" err="1">
                  <a:solidFill>
                    <a:srgbClr val="6B4C57"/>
                  </a:solidFill>
                  <a:latin typeface="Microsoft YaHei"/>
                </a:rPr>
                <a:t>데이터</a:t>
              </a:r>
              <a:r>
                <a:rPr sz="1139" b="0" i="0" dirty="0">
                  <a:solidFill>
                    <a:srgbClr val="6B4C57"/>
                  </a:solidFill>
                  <a:latin typeface="Microsoft YaHei"/>
                </a:rPr>
                <a:t> </a:t>
              </a:r>
              <a:r>
                <a:rPr sz="1139" b="0" i="0" dirty="0" err="1">
                  <a:solidFill>
                    <a:srgbClr val="6B4C57"/>
                  </a:solidFill>
                  <a:latin typeface="Microsoft YaHei"/>
                </a:rPr>
                <a:t>인덱싱</a:t>
              </a:r>
              <a:r>
                <a:rPr sz="1139" b="0" i="0" dirty="0">
                  <a:solidFill>
                    <a:srgbClr val="6B4C57"/>
                  </a:solidFill>
                  <a:latin typeface="Microsoft YaHei"/>
                </a:rPr>
                <a:t> 및 </a:t>
              </a:r>
              <a:r>
                <a:rPr sz="1139" b="0" i="0" dirty="0" err="1">
                  <a:solidFill>
                    <a:srgbClr val="6B4C57"/>
                  </a:solidFill>
                  <a:latin typeface="Microsoft YaHei"/>
                </a:rPr>
                <a:t>적재</a:t>
              </a:r>
              <a:r>
                <a:rPr sz="1139" b="0" i="0" dirty="0">
                  <a:solidFill>
                    <a:srgbClr val="6B4C57"/>
                  </a:solidFill>
                  <a:latin typeface="Microsoft YaHei"/>
                </a:rPr>
                <a:t> 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516646" y="5125512"/>
              <a:ext cx="5874385" cy="15773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1025" b="1" i="1" dirty="0" err="1">
                  <a:solidFill>
                    <a:srgbClr val="6B4C57"/>
                  </a:solidFill>
                  <a:latin typeface="Microsoft YaHei"/>
                </a:rPr>
                <a:t>보안</a:t>
              </a:r>
              <a:r>
                <a:rPr sz="1025" b="1" i="1" dirty="0">
                  <a:solidFill>
                    <a:srgbClr val="6B4C57"/>
                  </a:solidFill>
                  <a:latin typeface="Microsoft YaHei"/>
                </a:rPr>
                <a:t> </a:t>
              </a:r>
              <a:r>
                <a:rPr sz="1025" b="1" i="1" dirty="0">
                  <a:solidFill>
                    <a:srgbClr val="6B4C57"/>
                  </a:solidFill>
                  <a:latin typeface="Unbounded"/>
                </a:rPr>
                <a:t>: </a:t>
              </a:r>
              <a:r>
                <a:rPr sz="1025" b="0" i="1" dirty="0">
                  <a:solidFill>
                    <a:srgbClr val="6B4C57"/>
                  </a:solidFill>
                  <a:latin typeface="Unbounded"/>
                </a:rPr>
                <a:t> Spring Security, JWT, OAuth2 Client </a:t>
              </a:r>
              <a:r>
                <a:rPr sz="1025" b="0" i="1" dirty="0" err="1">
                  <a:solidFill>
                    <a:srgbClr val="6B4C57"/>
                  </a:solidFill>
                  <a:latin typeface="Microsoft YaHei"/>
                </a:rPr>
                <a:t>인증</a:t>
              </a:r>
              <a:endParaRPr sz="1025" b="0" i="1" dirty="0">
                <a:solidFill>
                  <a:srgbClr val="6B4C57"/>
                </a:solidFill>
                <a:latin typeface="Microsoft YaHe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843" y="2769026"/>
            <a:ext cx="200019" cy="22859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658" y="3495067"/>
            <a:ext cx="228576" cy="18291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9649" y="4009825"/>
            <a:ext cx="228594" cy="20019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9649" y="4495389"/>
            <a:ext cx="228583" cy="2286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01888" y="304792"/>
            <a:ext cx="4416507" cy="47623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999" b="1" i="0">
                <a:solidFill>
                  <a:srgbClr val="411B38"/>
                </a:solidFill>
                <a:latin typeface="Microsoft YaHei"/>
              </a:rPr>
              <a:t>데이터 처리 및 분석 과정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19649" y="2075653"/>
            <a:ext cx="2758783" cy="3333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99" b="1" i="0">
                <a:solidFill>
                  <a:srgbClr val="411B38"/>
                </a:solidFill>
                <a:latin typeface="Microsoft YaHei"/>
              </a:rPr>
              <a:t>데이터 수집 및 전처리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0058" y="2788076"/>
            <a:ext cx="5327503" cy="3506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39" i="0" dirty="0" err="1">
                <a:solidFill>
                  <a:srgbClr val="411B38"/>
                </a:solidFill>
                <a:latin typeface="Microsoft YaHei"/>
              </a:rPr>
              <a:t>전국</a:t>
            </a:r>
            <a:r>
              <a:rPr sz="1139" i="0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139" i="0" dirty="0" err="1">
                <a:solidFill>
                  <a:srgbClr val="411B38"/>
                </a:solidFill>
                <a:latin typeface="Microsoft YaHei"/>
              </a:rPr>
              <a:t>보행자</a:t>
            </a:r>
            <a:r>
              <a:rPr sz="1139" i="0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139" i="0" dirty="0" err="1">
                <a:solidFill>
                  <a:srgbClr val="411B38"/>
                </a:solidFill>
                <a:latin typeface="Microsoft YaHei"/>
              </a:rPr>
              <a:t>사고</a:t>
            </a:r>
            <a:r>
              <a:rPr sz="1139" i="0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139" i="0" dirty="0" err="1">
                <a:solidFill>
                  <a:srgbClr val="411B38"/>
                </a:solidFill>
                <a:latin typeface="Microsoft YaHei"/>
              </a:rPr>
              <a:t>통계</a:t>
            </a:r>
            <a:r>
              <a:rPr sz="1139" i="0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139" i="0" dirty="0">
                <a:solidFill>
                  <a:srgbClr val="411B38"/>
                </a:solidFill>
                <a:latin typeface="Unbounded"/>
              </a:rPr>
              <a:t>, </a:t>
            </a:r>
            <a:r>
              <a:rPr sz="1139" i="0" dirty="0" err="1">
                <a:solidFill>
                  <a:srgbClr val="411B38"/>
                </a:solidFill>
                <a:latin typeface="Microsoft YaHei"/>
              </a:rPr>
              <a:t>횡단보도</a:t>
            </a:r>
            <a:r>
              <a:rPr sz="1139" i="0" dirty="0">
                <a:solidFill>
                  <a:srgbClr val="411B38"/>
                </a:solidFill>
                <a:latin typeface="Unbounded"/>
              </a:rPr>
              <a:t>/</a:t>
            </a:r>
            <a:r>
              <a:rPr sz="1139" i="0" dirty="0" err="1">
                <a:solidFill>
                  <a:srgbClr val="411B38"/>
                </a:solidFill>
                <a:latin typeface="Microsoft YaHei"/>
              </a:rPr>
              <a:t>신호등</a:t>
            </a:r>
            <a:r>
              <a:rPr sz="1139" i="0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139" i="0" dirty="0" err="1">
                <a:solidFill>
                  <a:srgbClr val="411B38"/>
                </a:solidFill>
                <a:latin typeface="Microsoft YaHei"/>
              </a:rPr>
              <a:t>표준</a:t>
            </a:r>
            <a:r>
              <a:rPr sz="1139" i="0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139" i="0" dirty="0" err="1">
                <a:solidFill>
                  <a:srgbClr val="411B38"/>
                </a:solidFill>
                <a:latin typeface="Microsoft YaHei"/>
              </a:rPr>
              <a:t>데이터</a:t>
            </a:r>
            <a:r>
              <a:rPr sz="1139" i="0" dirty="0">
                <a:solidFill>
                  <a:srgbClr val="411B38"/>
                </a:solidFill>
                <a:latin typeface="Unbounded"/>
              </a:rPr>
              <a:t>, </a:t>
            </a:r>
            <a:r>
              <a:rPr sz="1139" i="0" dirty="0" err="1">
                <a:solidFill>
                  <a:srgbClr val="411B38"/>
                </a:solidFill>
                <a:latin typeface="Microsoft YaHei"/>
              </a:rPr>
              <a:t>행정구역</a:t>
            </a:r>
            <a:r>
              <a:rPr sz="1139" i="0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lang="ko-KR" altLang="en-US" sz="1139" dirty="0">
                <a:solidFill>
                  <a:srgbClr val="411B38"/>
                </a:solidFill>
                <a:latin typeface="Microsoft YaHei"/>
              </a:rPr>
              <a:t>법정도</a:t>
            </a:r>
            <a:r>
              <a:rPr sz="1139" i="0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139" i="0" dirty="0" err="1">
                <a:solidFill>
                  <a:srgbClr val="411B38"/>
                </a:solidFill>
                <a:latin typeface="Microsoft YaHei"/>
              </a:rPr>
              <a:t>데이터</a:t>
            </a:r>
            <a:r>
              <a:rPr sz="1139" i="0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139" i="0" dirty="0" err="1">
                <a:solidFill>
                  <a:srgbClr val="411B38"/>
                </a:solidFill>
                <a:latin typeface="Microsoft YaHei"/>
              </a:rPr>
              <a:t>통합</a:t>
            </a:r>
            <a:r>
              <a:rPr sz="1139" i="0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139" i="0" dirty="0" err="1">
                <a:solidFill>
                  <a:srgbClr val="411B38"/>
                </a:solidFill>
                <a:latin typeface="Microsoft YaHei"/>
              </a:rPr>
              <a:t>수집</a:t>
            </a:r>
            <a:r>
              <a:rPr sz="1139" i="0" dirty="0">
                <a:solidFill>
                  <a:srgbClr val="411B38"/>
                </a:solidFill>
                <a:latin typeface="Microsoft YaHei"/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8243" y="3487551"/>
            <a:ext cx="4674611" cy="2416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39" b="1" i="0" dirty="0">
                <a:solidFill>
                  <a:srgbClr val="411B38"/>
                </a:solidFill>
                <a:latin typeface="Unbounded"/>
              </a:rPr>
              <a:t>Python </a:t>
            </a:r>
            <a:r>
              <a:rPr sz="1139" b="1" i="0" dirty="0" err="1">
                <a:solidFill>
                  <a:srgbClr val="411B38"/>
                </a:solidFill>
                <a:latin typeface="Microsoft YaHei"/>
              </a:rPr>
              <a:t>기반</a:t>
            </a:r>
            <a:r>
              <a:rPr sz="1139" b="1" i="0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139" b="1" i="0" dirty="0" err="1">
                <a:solidFill>
                  <a:srgbClr val="411B38"/>
                </a:solidFill>
                <a:latin typeface="Microsoft YaHei"/>
              </a:rPr>
              <a:t>전처리</a:t>
            </a:r>
            <a:r>
              <a:rPr sz="1139" b="1" i="0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139" b="0" i="0" dirty="0">
                <a:solidFill>
                  <a:srgbClr val="411B38"/>
                </a:solidFill>
                <a:latin typeface="Unbounded"/>
              </a:rPr>
              <a:t> </a:t>
            </a:r>
            <a:r>
              <a:rPr sz="1139" b="0" i="0" dirty="0">
                <a:solidFill>
                  <a:srgbClr val="411B38"/>
                </a:solidFill>
                <a:latin typeface="Microsoft YaHei"/>
              </a:rPr>
              <a:t>로 </a:t>
            </a:r>
            <a:r>
              <a:rPr sz="1139" b="0" i="0" dirty="0" err="1">
                <a:solidFill>
                  <a:srgbClr val="411B38"/>
                </a:solidFill>
                <a:latin typeface="Microsoft YaHei"/>
              </a:rPr>
              <a:t>데이터</a:t>
            </a:r>
            <a:r>
              <a:rPr sz="1139" b="0" i="0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139" b="0" i="0" dirty="0" err="1">
                <a:solidFill>
                  <a:srgbClr val="411B38"/>
                </a:solidFill>
                <a:latin typeface="Microsoft YaHei"/>
              </a:rPr>
              <a:t>정제</a:t>
            </a:r>
            <a:r>
              <a:rPr sz="1139" b="0" i="0" dirty="0">
                <a:solidFill>
                  <a:srgbClr val="411B38"/>
                </a:solidFill>
                <a:latin typeface="Microsoft YaHei"/>
              </a:rPr>
              <a:t> 및 </a:t>
            </a:r>
            <a:r>
              <a:rPr sz="1139" b="1" i="0" dirty="0">
                <a:solidFill>
                  <a:srgbClr val="411B38"/>
                </a:solidFill>
                <a:latin typeface="Unbounded"/>
              </a:rPr>
              <a:t> </a:t>
            </a:r>
            <a:r>
              <a:rPr sz="1139" b="1" i="0" dirty="0" err="1">
                <a:solidFill>
                  <a:srgbClr val="411B38"/>
                </a:solidFill>
                <a:latin typeface="Microsoft YaHei"/>
              </a:rPr>
              <a:t>공간</a:t>
            </a:r>
            <a:r>
              <a:rPr sz="1139" b="1" i="0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139" b="1" i="0" dirty="0" err="1">
                <a:solidFill>
                  <a:srgbClr val="411B38"/>
                </a:solidFill>
                <a:latin typeface="Microsoft YaHei"/>
              </a:rPr>
              <a:t>좌표</a:t>
            </a:r>
            <a:r>
              <a:rPr sz="1139" b="1" i="0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139" b="1" i="0" dirty="0" err="1">
                <a:solidFill>
                  <a:srgbClr val="411B38"/>
                </a:solidFill>
                <a:latin typeface="Microsoft YaHei"/>
              </a:rPr>
              <a:t>표준화</a:t>
            </a:r>
            <a:r>
              <a:rPr sz="1139" b="1" i="0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139" b="0" i="0" dirty="0">
                <a:solidFill>
                  <a:srgbClr val="411B38"/>
                </a:solidFill>
                <a:latin typeface="Unbounded"/>
              </a:rPr>
              <a:t> </a:t>
            </a:r>
            <a:r>
              <a:rPr sz="1139" b="0" i="0" dirty="0" err="1">
                <a:solidFill>
                  <a:srgbClr val="411B38"/>
                </a:solidFill>
                <a:latin typeface="Microsoft YaHei"/>
              </a:rPr>
              <a:t>작업</a:t>
            </a:r>
            <a:r>
              <a:rPr sz="1139" b="0" i="0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139" b="0" i="0" dirty="0" err="1">
                <a:solidFill>
                  <a:srgbClr val="411B38"/>
                </a:solidFill>
                <a:latin typeface="Microsoft YaHei"/>
              </a:rPr>
              <a:t>수행</a:t>
            </a:r>
            <a:r>
              <a:rPr sz="1139" b="0" i="0" dirty="0">
                <a:solidFill>
                  <a:srgbClr val="411B38"/>
                </a:solidFill>
                <a:latin typeface="Microsoft YaHei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8243" y="4016175"/>
            <a:ext cx="4360145" cy="180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39" b="0" i="0" dirty="0" err="1">
                <a:solidFill>
                  <a:srgbClr val="411B38"/>
                </a:solidFill>
                <a:latin typeface="Microsoft YaHei"/>
              </a:rPr>
              <a:t>횡단보도</a:t>
            </a:r>
            <a:r>
              <a:rPr sz="1139" b="0" i="0" dirty="0" err="1">
                <a:solidFill>
                  <a:srgbClr val="411B38"/>
                </a:solidFill>
                <a:latin typeface="Unbounded"/>
              </a:rPr>
              <a:t>-</a:t>
            </a:r>
            <a:r>
              <a:rPr sz="1139" b="0" i="0" dirty="0" err="1">
                <a:solidFill>
                  <a:srgbClr val="411B38"/>
                </a:solidFill>
                <a:latin typeface="Microsoft YaHei"/>
              </a:rPr>
              <a:t>사고</a:t>
            </a:r>
            <a:r>
              <a:rPr sz="1139" b="0" i="0" dirty="0" err="1">
                <a:solidFill>
                  <a:srgbClr val="411B38"/>
                </a:solidFill>
                <a:latin typeface="Unbounded"/>
              </a:rPr>
              <a:t>-</a:t>
            </a:r>
            <a:r>
              <a:rPr sz="1139" b="0" i="0" dirty="0" err="1">
                <a:solidFill>
                  <a:srgbClr val="411B38"/>
                </a:solidFill>
                <a:latin typeface="Microsoft YaHei"/>
              </a:rPr>
              <a:t>신호등</a:t>
            </a:r>
            <a:r>
              <a:rPr sz="1139" b="0" i="0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139" b="0" i="0" dirty="0" err="1">
                <a:solidFill>
                  <a:srgbClr val="411B38"/>
                </a:solidFill>
                <a:latin typeface="Microsoft YaHei"/>
              </a:rPr>
              <a:t>간의</a:t>
            </a:r>
            <a:r>
              <a:rPr sz="1139" b="0" i="0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139" b="1" i="0" dirty="0">
                <a:solidFill>
                  <a:srgbClr val="411B38"/>
                </a:solidFill>
                <a:latin typeface="Unbounded"/>
              </a:rPr>
              <a:t> </a:t>
            </a:r>
            <a:r>
              <a:rPr sz="1139" b="1" i="0" dirty="0" err="1">
                <a:solidFill>
                  <a:srgbClr val="411B38"/>
                </a:solidFill>
                <a:latin typeface="Microsoft YaHei"/>
              </a:rPr>
              <a:t>공간</a:t>
            </a:r>
            <a:r>
              <a:rPr sz="1139" b="1" i="0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139" b="1" i="0" dirty="0" err="1">
                <a:solidFill>
                  <a:srgbClr val="411B38"/>
                </a:solidFill>
                <a:latin typeface="Microsoft YaHei"/>
              </a:rPr>
              <a:t>데이터</a:t>
            </a:r>
            <a:r>
              <a:rPr sz="1139" b="1" i="0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139" b="1" i="0" dirty="0" err="1">
                <a:solidFill>
                  <a:srgbClr val="411B38"/>
                </a:solidFill>
                <a:latin typeface="Microsoft YaHei"/>
              </a:rPr>
              <a:t>매핑</a:t>
            </a:r>
            <a:r>
              <a:rPr sz="1139" b="1" i="0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139" b="0" i="0" dirty="0">
                <a:solidFill>
                  <a:srgbClr val="411B38"/>
                </a:solidFill>
                <a:latin typeface="Unbounded"/>
              </a:rPr>
              <a:t> </a:t>
            </a:r>
            <a:r>
              <a:rPr sz="1139" b="0" i="0" dirty="0">
                <a:solidFill>
                  <a:srgbClr val="411B38"/>
                </a:solidFill>
                <a:latin typeface="Microsoft YaHei"/>
              </a:rPr>
              <a:t>및 </a:t>
            </a:r>
            <a:r>
              <a:rPr sz="1139" b="0" i="0" dirty="0" err="1">
                <a:solidFill>
                  <a:srgbClr val="411B38"/>
                </a:solidFill>
                <a:latin typeface="Microsoft YaHei"/>
              </a:rPr>
              <a:t>지리적</a:t>
            </a:r>
            <a:r>
              <a:rPr sz="1139" b="0" i="0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139" b="0" i="0" dirty="0" err="1">
                <a:solidFill>
                  <a:srgbClr val="411B38"/>
                </a:solidFill>
                <a:latin typeface="Microsoft YaHei"/>
              </a:rPr>
              <a:t>관계</a:t>
            </a:r>
            <a:r>
              <a:rPr sz="1139" b="0" i="0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139" b="0" i="0" dirty="0" err="1">
                <a:solidFill>
                  <a:srgbClr val="411B38"/>
                </a:solidFill>
                <a:latin typeface="Microsoft YaHei"/>
              </a:rPr>
              <a:t>분석</a:t>
            </a:r>
            <a:r>
              <a:rPr sz="1139" b="0" i="0" dirty="0">
                <a:solidFill>
                  <a:srgbClr val="411B38"/>
                </a:solidFill>
                <a:latin typeface="Microsoft YaHei"/>
              </a:rP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8243" y="4484079"/>
            <a:ext cx="4401369" cy="2416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39" b="0" i="0" dirty="0" err="1">
                <a:solidFill>
                  <a:srgbClr val="411B38"/>
                </a:solidFill>
                <a:latin typeface="Microsoft YaHei"/>
              </a:rPr>
              <a:t>특정</a:t>
            </a:r>
            <a:r>
              <a:rPr sz="1139" b="0" i="0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139" b="0" i="0" dirty="0" err="1">
                <a:solidFill>
                  <a:srgbClr val="411B38"/>
                </a:solidFill>
                <a:latin typeface="Microsoft YaHei"/>
              </a:rPr>
              <a:t>지점</a:t>
            </a:r>
            <a:r>
              <a:rPr sz="1139" b="0" i="0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139" b="0" i="0" dirty="0" err="1">
                <a:solidFill>
                  <a:srgbClr val="411B38"/>
                </a:solidFill>
                <a:latin typeface="Microsoft YaHei"/>
              </a:rPr>
              <a:t>기준</a:t>
            </a:r>
            <a:r>
              <a:rPr sz="1139" b="0" i="0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139" b="1" i="0" dirty="0">
                <a:solidFill>
                  <a:srgbClr val="411B38"/>
                </a:solidFill>
                <a:latin typeface="Unbounded"/>
              </a:rPr>
              <a:t> 500m </a:t>
            </a:r>
            <a:r>
              <a:rPr sz="1139" b="1" i="0" dirty="0" err="1">
                <a:solidFill>
                  <a:srgbClr val="411B38"/>
                </a:solidFill>
                <a:latin typeface="Microsoft YaHei"/>
              </a:rPr>
              <a:t>반경</a:t>
            </a:r>
            <a:r>
              <a:rPr sz="1139" b="1" i="0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139" b="0" i="0" dirty="0">
                <a:solidFill>
                  <a:srgbClr val="411B38"/>
                </a:solidFill>
                <a:latin typeface="Unbounded"/>
              </a:rPr>
              <a:t> </a:t>
            </a:r>
            <a:r>
              <a:rPr sz="1139" b="0" i="0" dirty="0">
                <a:solidFill>
                  <a:srgbClr val="411B38"/>
                </a:solidFill>
                <a:latin typeface="Microsoft YaHei"/>
              </a:rPr>
              <a:t>내 </a:t>
            </a:r>
            <a:r>
              <a:rPr sz="1139" b="0" i="0" dirty="0" err="1">
                <a:solidFill>
                  <a:srgbClr val="411B38"/>
                </a:solidFill>
                <a:latin typeface="Microsoft YaHei"/>
              </a:rPr>
              <a:t>사고</a:t>
            </a:r>
            <a:r>
              <a:rPr sz="1139" b="0" i="0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139" b="0" i="0" dirty="0" err="1">
                <a:solidFill>
                  <a:srgbClr val="411B38"/>
                </a:solidFill>
                <a:latin typeface="Microsoft YaHei"/>
              </a:rPr>
              <a:t>다발지역</a:t>
            </a:r>
            <a:r>
              <a:rPr sz="1139" b="0" i="0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139" b="0" i="0" dirty="0" err="1">
                <a:solidFill>
                  <a:srgbClr val="411B38"/>
                </a:solidFill>
                <a:latin typeface="Microsoft YaHei"/>
              </a:rPr>
              <a:t>클러스터링</a:t>
            </a:r>
            <a:r>
              <a:rPr sz="1139" b="0" i="0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139" b="0" i="0" dirty="0" err="1">
                <a:solidFill>
                  <a:srgbClr val="411B38"/>
                </a:solidFill>
                <a:latin typeface="Microsoft YaHei"/>
              </a:rPr>
              <a:t>분석</a:t>
            </a:r>
            <a:r>
              <a:rPr sz="1139" b="0" i="0" dirty="0">
                <a:solidFill>
                  <a:srgbClr val="411B38"/>
                </a:solidFill>
                <a:latin typeface="Microsoft YaHei"/>
              </a:rP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33946" y="5241297"/>
            <a:ext cx="5318526" cy="3704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25" b="1" i="1" dirty="0" err="1">
                <a:solidFill>
                  <a:srgbClr val="6B4C57"/>
                </a:solidFill>
                <a:latin typeface="Microsoft YaHei"/>
              </a:rPr>
              <a:t>핵심</a:t>
            </a:r>
            <a:r>
              <a:rPr sz="1025" b="1" i="1" dirty="0">
                <a:solidFill>
                  <a:srgbClr val="6B4C57"/>
                </a:solidFill>
                <a:latin typeface="Microsoft YaHei"/>
              </a:rPr>
              <a:t> </a:t>
            </a:r>
            <a:r>
              <a:rPr sz="1025" b="1" i="1" dirty="0" err="1">
                <a:solidFill>
                  <a:srgbClr val="6B4C57"/>
                </a:solidFill>
                <a:latin typeface="Microsoft YaHei"/>
              </a:rPr>
              <a:t>기술</a:t>
            </a:r>
            <a:r>
              <a:rPr sz="1025" b="1" i="1" dirty="0">
                <a:solidFill>
                  <a:srgbClr val="6B4C57"/>
                </a:solidFill>
                <a:latin typeface="Unbounded"/>
              </a:rPr>
              <a:t>: </a:t>
            </a:r>
            <a:r>
              <a:rPr sz="1025" b="0" i="1" dirty="0">
                <a:solidFill>
                  <a:srgbClr val="6B4C57"/>
                </a:solidFill>
                <a:latin typeface="Unbounded"/>
              </a:rPr>
              <a:t> </a:t>
            </a:r>
            <a:r>
              <a:rPr sz="1025" b="0" i="1" dirty="0" err="1">
                <a:solidFill>
                  <a:srgbClr val="6B4C57"/>
                </a:solidFill>
                <a:latin typeface="Microsoft YaHei"/>
              </a:rPr>
              <a:t>공간</a:t>
            </a:r>
            <a:r>
              <a:rPr sz="1025" b="0" i="1" dirty="0">
                <a:solidFill>
                  <a:srgbClr val="6B4C57"/>
                </a:solidFill>
                <a:latin typeface="Microsoft YaHei"/>
              </a:rPr>
              <a:t> </a:t>
            </a:r>
            <a:r>
              <a:rPr sz="1025" b="0" i="1" dirty="0" err="1">
                <a:solidFill>
                  <a:srgbClr val="6B4C57"/>
                </a:solidFill>
                <a:latin typeface="Microsoft YaHei"/>
              </a:rPr>
              <a:t>인덱싱과</a:t>
            </a:r>
            <a:r>
              <a:rPr sz="1025" b="0" i="1" dirty="0">
                <a:solidFill>
                  <a:srgbClr val="6B4C57"/>
                </a:solidFill>
                <a:latin typeface="Microsoft YaHei"/>
              </a:rPr>
              <a:t> </a:t>
            </a:r>
            <a:r>
              <a:rPr sz="1025" b="0" i="1" dirty="0" err="1">
                <a:solidFill>
                  <a:srgbClr val="6B4C57"/>
                </a:solidFill>
                <a:latin typeface="Microsoft YaHei"/>
              </a:rPr>
              <a:t>거리</a:t>
            </a:r>
            <a:r>
              <a:rPr sz="1025" b="0" i="1" dirty="0">
                <a:solidFill>
                  <a:srgbClr val="6B4C57"/>
                </a:solidFill>
                <a:latin typeface="Microsoft YaHei"/>
              </a:rPr>
              <a:t> </a:t>
            </a:r>
            <a:r>
              <a:rPr sz="1025" b="0" i="1" dirty="0" err="1">
                <a:solidFill>
                  <a:srgbClr val="6B4C57"/>
                </a:solidFill>
                <a:latin typeface="Microsoft YaHei"/>
              </a:rPr>
              <a:t>기반</a:t>
            </a:r>
            <a:r>
              <a:rPr sz="1025" b="0" i="1" dirty="0">
                <a:solidFill>
                  <a:srgbClr val="6B4C57"/>
                </a:solidFill>
                <a:latin typeface="Microsoft YaHei"/>
              </a:rPr>
              <a:t> </a:t>
            </a:r>
            <a:r>
              <a:rPr sz="1025" b="0" i="1" dirty="0" err="1">
                <a:solidFill>
                  <a:srgbClr val="6B4C57"/>
                </a:solidFill>
                <a:latin typeface="Microsoft YaHei"/>
              </a:rPr>
              <a:t>가중치</a:t>
            </a:r>
            <a:r>
              <a:rPr sz="1025" b="0" i="1" dirty="0">
                <a:solidFill>
                  <a:srgbClr val="6B4C57"/>
                </a:solidFill>
                <a:latin typeface="Microsoft YaHei"/>
              </a:rPr>
              <a:t> </a:t>
            </a:r>
            <a:r>
              <a:rPr sz="1025" b="0" i="1" dirty="0" err="1">
                <a:solidFill>
                  <a:srgbClr val="6B4C57"/>
                </a:solidFill>
                <a:latin typeface="Microsoft YaHei"/>
              </a:rPr>
              <a:t>알고리즘을</a:t>
            </a:r>
            <a:r>
              <a:rPr sz="1025" b="0" i="1" dirty="0">
                <a:solidFill>
                  <a:srgbClr val="6B4C57"/>
                </a:solidFill>
                <a:latin typeface="Microsoft YaHei"/>
              </a:rPr>
              <a:t> </a:t>
            </a:r>
            <a:r>
              <a:rPr sz="1025" b="0" i="1" dirty="0" err="1">
                <a:solidFill>
                  <a:srgbClr val="6B4C57"/>
                </a:solidFill>
                <a:latin typeface="Microsoft YaHei"/>
              </a:rPr>
              <a:t>통해</a:t>
            </a:r>
            <a:r>
              <a:rPr sz="1025" b="0" i="1" dirty="0">
                <a:solidFill>
                  <a:srgbClr val="6B4C57"/>
                </a:solidFill>
                <a:latin typeface="Microsoft YaHei"/>
              </a:rPr>
              <a:t> </a:t>
            </a:r>
            <a:r>
              <a:rPr sz="1025" b="0" i="1" dirty="0" err="1">
                <a:solidFill>
                  <a:srgbClr val="6B4C57"/>
                </a:solidFill>
                <a:latin typeface="Microsoft YaHei"/>
              </a:rPr>
              <a:t>실시간</a:t>
            </a:r>
            <a:r>
              <a:rPr sz="1025" b="0" i="1" dirty="0">
                <a:solidFill>
                  <a:srgbClr val="6B4C57"/>
                </a:solidFill>
                <a:latin typeface="Microsoft YaHei"/>
              </a:rPr>
              <a:t> </a:t>
            </a:r>
            <a:r>
              <a:rPr sz="1025" b="0" i="1" dirty="0" err="1">
                <a:solidFill>
                  <a:srgbClr val="6B4C57"/>
                </a:solidFill>
                <a:latin typeface="Microsoft YaHei"/>
              </a:rPr>
              <a:t>위험도</a:t>
            </a:r>
            <a:r>
              <a:rPr sz="1025" b="0" i="1" dirty="0">
                <a:solidFill>
                  <a:srgbClr val="6B4C57"/>
                </a:solidFill>
                <a:latin typeface="Microsoft YaHei"/>
              </a:rPr>
              <a:t> </a:t>
            </a:r>
            <a:r>
              <a:rPr sz="1025" b="0" i="1" dirty="0" err="1">
                <a:solidFill>
                  <a:srgbClr val="6B4C57"/>
                </a:solidFill>
                <a:latin typeface="Microsoft YaHei"/>
              </a:rPr>
              <a:t>계산이</a:t>
            </a:r>
            <a:r>
              <a:rPr sz="1025" b="0" i="1" dirty="0">
                <a:solidFill>
                  <a:srgbClr val="6B4C57"/>
                </a:solidFill>
                <a:latin typeface="Microsoft YaHei"/>
              </a:rPr>
              <a:t> </a:t>
            </a:r>
            <a:r>
              <a:rPr sz="1025" b="0" i="1" dirty="0" err="1">
                <a:solidFill>
                  <a:srgbClr val="6B4C57"/>
                </a:solidFill>
                <a:latin typeface="Microsoft YaHei"/>
              </a:rPr>
              <a:t>가능한</a:t>
            </a:r>
            <a:r>
              <a:rPr sz="1025" b="0" i="1" dirty="0">
                <a:solidFill>
                  <a:srgbClr val="6B4C57"/>
                </a:solidFill>
                <a:latin typeface="Microsoft YaHei"/>
              </a:rPr>
              <a:t> </a:t>
            </a:r>
            <a:r>
              <a:rPr sz="1025" b="0" i="1" dirty="0" err="1">
                <a:solidFill>
                  <a:srgbClr val="6B4C57"/>
                </a:solidFill>
                <a:latin typeface="Microsoft YaHei"/>
              </a:rPr>
              <a:t>데이터</a:t>
            </a:r>
            <a:r>
              <a:rPr sz="1025" b="0" i="1" dirty="0">
                <a:solidFill>
                  <a:srgbClr val="6B4C57"/>
                </a:solidFill>
                <a:latin typeface="Microsoft YaHei"/>
              </a:rPr>
              <a:t> </a:t>
            </a:r>
            <a:r>
              <a:rPr sz="1025" b="0" i="1" dirty="0" err="1">
                <a:solidFill>
                  <a:srgbClr val="6B4C57"/>
                </a:solidFill>
                <a:latin typeface="Microsoft YaHei"/>
              </a:rPr>
              <a:t>구조를</a:t>
            </a:r>
            <a:r>
              <a:rPr sz="1025" b="0" i="1" dirty="0">
                <a:solidFill>
                  <a:srgbClr val="6B4C57"/>
                </a:solidFill>
                <a:latin typeface="Microsoft YaHei"/>
              </a:rPr>
              <a:t> </a:t>
            </a:r>
            <a:r>
              <a:rPr sz="1025" b="0" i="1" dirty="0" err="1">
                <a:solidFill>
                  <a:srgbClr val="6B4C57"/>
                </a:solidFill>
                <a:latin typeface="Microsoft YaHei"/>
              </a:rPr>
              <a:t>구축했습니다</a:t>
            </a:r>
            <a:r>
              <a:rPr sz="1025" b="0" i="1" dirty="0">
                <a:solidFill>
                  <a:srgbClr val="6B4C57"/>
                </a:solidFill>
                <a:latin typeface="Unbounded"/>
              </a:rPr>
              <a:t>. 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431464D0-CF78-4A08-B8EF-FCC8D43207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551" y="2139518"/>
            <a:ext cx="5399843" cy="35998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572" y="2745810"/>
            <a:ext cx="228578" cy="20001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9699" y="3229787"/>
            <a:ext cx="214307" cy="22734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1130" y="3728051"/>
            <a:ext cx="171445" cy="22859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1130" y="4226315"/>
            <a:ext cx="171445" cy="22800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2556" y="4838876"/>
            <a:ext cx="8686582" cy="71614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31335" y="304792"/>
            <a:ext cx="4711895" cy="3809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399" b="1" i="0">
                <a:solidFill>
                  <a:srgbClr val="411B38"/>
                </a:solidFill>
                <a:latin typeface="Microsoft YaHei"/>
              </a:rPr>
              <a:t>핵심 알고리즘 </a:t>
            </a:r>
            <a:r>
              <a:rPr sz="2399" b="1" i="0">
                <a:solidFill>
                  <a:srgbClr val="411B38"/>
                </a:solidFill>
                <a:latin typeface="Unbounded"/>
              </a:rPr>
              <a:t>- </a:t>
            </a:r>
            <a:r>
              <a:rPr sz="2399" b="1" i="0">
                <a:solidFill>
                  <a:srgbClr val="411B38"/>
                </a:solidFill>
                <a:latin typeface="Microsoft YaHei"/>
              </a:rPr>
              <a:t>위험 및 안전 지수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52556" y="2140987"/>
            <a:ext cx="2536049" cy="2857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99" b="1" i="0">
                <a:solidFill>
                  <a:srgbClr val="411B38"/>
                </a:solidFill>
                <a:latin typeface="Microsoft YaHei"/>
              </a:rPr>
              <a:t>정량적 안전 평가 지표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1150" y="2720212"/>
            <a:ext cx="6227742" cy="2416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39" b="1" i="0">
                <a:solidFill>
                  <a:srgbClr val="411B38"/>
                </a:solidFill>
                <a:latin typeface="Microsoft YaHei"/>
              </a:rPr>
              <a:t>위험 지수 계산</a:t>
            </a:r>
            <a:r>
              <a:rPr sz="1139" b="1" i="0">
                <a:solidFill>
                  <a:srgbClr val="411B38"/>
                </a:solidFill>
                <a:latin typeface="Unbounded"/>
              </a:rPr>
              <a:t>: </a:t>
            </a:r>
            <a:r>
              <a:rPr sz="1139" b="0" i="1">
                <a:solidFill>
                  <a:srgbClr val="6B4C57"/>
                </a:solidFill>
                <a:latin typeface="Unbounded"/>
              </a:rPr>
              <a:t> </a:t>
            </a:r>
            <a:r>
              <a:rPr sz="1139" b="0" i="1">
                <a:solidFill>
                  <a:srgbClr val="6B4C57"/>
                </a:solidFill>
                <a:latin typeface="Microsoft YaHei"/>
              </a:rPr>
              <a:t>반경 </a:t>
            </a:r>
            <a:r>
              <a:rPr sz="1139" b="0" i="1">
                <a:solidFill>
                  <a:srgbClr val="6B4C57"/>
                </a:solidFill>
                <a:latin typeface="Unbounded"/>
              </a:rPr>
              <a:t>500m </a:t>
            </a:r>
            <a:r>
              <a:rPr sz="1139" b="0" i="1">
                <a:solidFill>
                  <a:srgbClr val="6B4C57"/>
                </a:solidFill>
                <a:latin typeface="Microsoft YaHei"/>
              </a:rPr>
              <a:t>내 사고 빈도 × 심각도 가중치</a:t>
            </a:r>
            <a:r>
              <a:rPr sz="1139" b="0" i="1">
                <a:solidFill>
                  <a:srgbClr val="6B4C57"/>
                </a:solidFill>
                <a:latin typeface="Unbounded"/>
              </a:rPr>
              <a:t>(</a:t>
            </a:r>
            <a:r>
              <a:rPr sz="1139" b="0" i="1">
                <a:solidFill>
                  <a:srgbClr val="6B4C57"/>
                </a:solidFill>
                <a:latin typeface="Microsoft YaHei"/>
              </a:rPr>
              <a:t>사망</a:t>
            </a:r>
            <a:r>
              <a:rPr sz="1139" b="0" i="1">
                <a:solidFill>
                  <a:srgbClr val="6B4C57"/>
                </a:solidFill>
                <a:latin typeface="Unbounded"/>
              </a:rPr>
              <a:t>&gt;</a:t>
            </a:r>
            <a:r>
              <a:rPr sz="1139" b="0" i="1">
                <a:solidFill>
                  <a:srgbClr val="6B4C57"/>
                </a:solidFill>
                <a:latin typeface="Microsoft YaHei"/>
              </a:rPr>
              <a:t>중상</a:t>
            </a:r>
            <a:r>
              <a:rPr sz="1139" b="0" i="1">
                <a:solidFill>
                  <a:srgbClr val="6B4C57"/>
                </a:solidFill>
                <a:latin typeface="Unbounded"/>
              </a:rPr>
              <a:t>&gt;</a:t>
            </a:r>
            <a:r>
              <a:rPr sz="1139" b="0" i="1">
                <a:solidFill>
                  <a:srgbClr val="6B4C57"/>
                </a:solidFill>
                <a:latin typeface="Microsoft YaHei"/>
              </a:rPr>
              <a:t>경상</a:t>
            </a:r>
            <a:r>
              <a:rPr sz="1139" b="0" i="1">
                <a:solidFill>
                  <a:srgbClr val="6B4C57"/>
                </a:solidFill>
                <a:latin typeface="Unbounded"/>
              </a:rPr>
              <a:t>) </a:t>
            </a:r>
            <a:r>
              <a:rPr sz="1139" b="0" i="1">
                <a:solidFill>
                  <a:srgbClr val="6B4C57"/>
                </a:solidFill>
                <a:latin typeface="Microsoft YaHei"/>
              </a:rPr>
              <a:t>× 거리 가중치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81150" y="3218476"/>
            <a:ext cx="6524945" cy="2416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39" b="1" i="0">
                <a:solidFill>
                  <a:srgbClr val="411B38"/>
                </a:solidFill>
                <a:latin typeface="Microsoft YaHei"/>
              </a:rPr>
              <a:t>안전 지수 계산</a:t>
            </a:r>
            <a:r>
              <a:rPr sz="1139" b="1" i="0">
                <a:solidFill>
                  <a:srgbClr val="411B38"/>
                </a:solidFill>
                <a:latin typeface="Unbounded"/>
              </a:rPr>
              <a:t>: </a:t>
            </a:r>
            <a:r>
              <a:rPr sz="1139" b="0" i="1">
                <a:solidFill>
                  <a:srgbClr val="6B4C57"/>
                </a:solidFill>
                <a:latin typeface="Unbounded"/>
              </a:rPr>
              <a:t> </a:t>
            </a:r>
            <a:r>
              <a:rPr sz="1139" b="0" i="1">
                <a:solidFill>
                  <a:srgbClr val="6B4C57"/>
                </a:solidFill>
                <a:latin typeface="Microsoft YaHei"/>
              </a:rPr>
              <a:t>신호등</a:t>
            </a:r>
            <a:r>
              <a:rPr sz="1139" b="0" i="1">
                <a:solidFill>
                  <a:srgbClr val="6B4C57"/>
                </a:solidFill>
                <a:latin typeface="Unbounded"/>
              </a:rPr>
              <a:t>, </a:t>
            </a:r>
            <a:r>
              <a:rPr sz="1139" b="0" i="1">
                <a:solidFill>
                  <a:srgbClr val="6B4C57"/>
                </a:solidFill>
                <a:latin typeface="Microsoft YaHei"/>
              </a:rPr>
              <a:t>음향신호기</a:t>
            </a:r>
            <a:r>
              <a:rPr sz="1139" b="0" i="1">
                <a:solidFill>
                  <a:srgbClr val="6B4C57"/>
                </a:solidFill>
                <a:latin typeface="Unbounded"/>
              </a:rPr>
              <a:t>, </a:t>
            </a:r>
            <a:r>
              <a:rPr sz="1139" b="0" i="1">
                <a:solidFill>
                  <a:srgbClr val="6B4C57"/>
                </a:solidFill>
                <a:latin typeface="Microsoft YaHei"/>
              </a:rPr>
              <a:t>점자블록</a:t>
            </a:r>
            <a:r>
              <a:rPr sz="1139" b="0" i="1">
                <a:solidFill>
                  <a:srgbClr val="6B4C57"/>
                </a:solidFill>
                <a:latin typeface="Unbounded"/>
              </a:rPr>
              <a:t>, </a:t>
            </a:r>
            <a:r>
              <a:rPr sz="1139" b="0" i="1">
                <a:solidFill>
                  <a:srgbClr val="6B4C57"/>
                </a:solidFill>
                <a:latin typeface="Microsoft YaHei"/>
              </a:rPr>
              <a:t>보도턱 낮춤</a:t>
            </a:r>
            <a:r>
              <a:rPr sz="1139" b="0" i="1">
                <a:solidFill>
                  <a:srgbClr val="6B4C57"/>
                </a:solidFill>
                <a:latin typeface="Unbounded"/>
              </a:rPr>
              <a:t>, </a:t>
            </a:r>
            <a:r>
              <a:rPr sz="1139" b="0" i="1">
                <a:solidFill>
                  <a:srgbClr val="6B4C57"/>
                </a:solidFill>
                <a:latin typeface="Microsoft YaHei"/>
              </a:rPr>
              <a:t>집중조명 등 편의시설 설치 여부 종합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81150" y="3716740"/>
            <a:ext cx="7433964" cy="2416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39" b="1" i="0">
                <a:solidFill>
                  <a:srgbClr val="411B38"/>
                </a:solidFill>
                <a:latin typeface="Microsoft YaHei"/>
              </a:rPr>
              <a:t>정규화 처리</a:t>
            </a:r>
            <a:r>
              <a:rPr sz="1139" b="1" i="0">
                <a:solidFill>
                  <a:srgbClr val="411B38"/>
                </a:solidFill>
                <a:latin typeface="Unbounded"/>
              </a:rPr>
              <a:t>: </a:t>
            </a:r>
            <a:r>
              <a:rPr sz="1139" b="0" i="1">
                <a:solidFill>
                  <a:srgbClr val="6B4C57"/>
                </a:solidFill>
                <a:latin typeface="Unbounded"/>
              </a:rPr>
              <a:t> </a:t>
            </a:r>
            <a:r>
              <a:rPr sz="1139" b="0" i="1">
                <a:solidFill>
                  <a:srgbClr val="6B4C57"/>
                </a:solidFill>
                <a:latin typeface="Microsoft YaHei"/>
              </a:rPr>
              <a:t>모든 지수를 </a:t>
            </a:r>
            <a:r>
              <a:rPr sz="1139" b="0" i="1">
                <a:solidFill>
                  <a:srgbClr val="6B4C57"/>
                </a:solidFill>
                <a:latin typeface="Unbounded"/>
              </a:rPr>
              <a:t>0~100 </a:t>
            </a:r>
            <a:r>
              <a:rPr sz="1139" b="0" i="1">
                <a:solidFill>
                  <a:srgbClr val="6B4C57"/>
                </a:solidFill>
                <a:latin typeface="Microsoft YaHei"/>
              </a:rPr>
              <a:t>범위로 정규화하여 </a:t>
            </a:r>
            <a:r>
              <a:rPr sz="1139" b="0" i="1">
                <a:solidFill>
                  <a:srgbClr val="6B4C57"/>
                </a:solidFill>
                <a:latin typeface="Unbounded"/>
              </a:rPr>
              <a:t>5</a:t>
            </a:r>
            <a:r>
              <a:rPr sz="1139" b="0" i="1">
                <a:solidFill>
                  <a:srgbClr val="6B4C57"/>
                </a:solidFill>
                <a:latin typeface="Microsoft YaHei"/>
              </a:rPr>
              <a:t>단계 위험 레벨</a:t>
            </a:r>
            <a:r>
              <a:rPr sz="1139" b="0" i="1">
                <a:solidFill>
                  <a:srgbClr val="6B4C57"/>
                </a:solidFill>
                <a:latin typeface="Unbounded"/>
              </a:rPr>
              <a:t>(</a:t>
            </a:r>
            <a:r>
              <a:rPr sz="1139" b="0" i="1">
                <a:solidFill>
                  <a:srgbClr val="6B4C57"/>
                </a:solidFill>
                <a:latin typeface="Microsoft YaHei"/>
              </a:rPr>
              <a:t>매우높음 </a:t>
            </a:r>
            <a:r>
              <a:rPr sz="1139" b="0" i="1">
                <a:solidFill>
                  <a:srgbClr val="6B4C57"/>
                </a:solidFill>
                <a:latin typeface="Unbounded"/>
              </a:rPr>
              <a:t>80-100, </a:t>
            </a:r>
            <a:r>
              <a:rPr sz="1139" b="0" i="1">
                <a:solidFill>
                  <a:srgbClr val="6B4C57"/>
                </a:solidFill>
                <a:latin typeface="Microsoft YaHei"/>
              </a:rPr>
              <a:t>높음 </a:t>
            </a:r>
            <a:r>
              <a:rPr sz="1139" b="0" i="1">
                <a:solidFill>
                  <a:srgbClr val="6B4C57"/>
                </a:solidFill>
                <a:latin typeface="Unbounded"/>
              </a:rPr>
              <a:t>60-79) </a:t>
            </a:r>
            <a:r>
              <a:rPr sz="1139" b="0" i="1">
                <a:solidFill>
                  <a:srgbClr val="6B4C57"/>
                </a:solidFill>
                <a:latin typeface="Microsoft YaHei"/>
              </a:rPr>
              <a:t>분류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81150" y="4215004"/>
            <a:ext cx="5929647" cy="2416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39" b="1" i="0">
                <a:solidFill>
                  <a:srgbClr val="411B38"/>
                </a:solidFill>
                <a:latin typeface="Microsoft YaHei"/>
              </a:rPr>
              <a:t>공간 분석</a:t>
            </a:r>
            <a:r>
              <a:rPr sz="1139" b="1" i="0">
                <a:solidFill>
                  <a:srgbClr val="411B38"/>
                </a:solidFill>
                <a:latin typeface="Unbounded"/>
              </a:rPr>
              <a:t>: </a:t>
            </a:r>
            <a:r>
              <a:rPr sz="1139" b="0" i="1">
                <a:solidFill>
                  <a:srgbClr val="6B4C57"/>
                </a:solidFill>
                <a:latin typeface="Unbounded"/>
              </a:rPr>
              <a:t> MySQL </a:t>
            </a:r>
            <a:r>
              <a:rPr sz="1139" b="0" i="1">
                <a:solidFill>
                  <a:srgbClr val="6B4C57"/>
                </a:solidFill>
                <a:latin typeface="Microsoft YaHei"/>
              </a:rPr>
              <a:t>공간 인덱스를 활용한 지리적 좌표 기반 </a:t>
            </a:r>
            <a:r>
              <a:rPr sz="1139" b="0" i="1">
                <a:solidFill>
                  <a:srgbClr val="6B4C57"/>
                </a:solidFill>
                <a:latin typeface="Unbounded"/>
              </a:rPr>
              <a:t>500m </a:t>
            </a:r>
            <a:r>
              <a:rPr sz="1139" b="0" i="1">
                <a:solidFill>
                  <a:srgbClr val="6B4C57"/>
                </a:solidFill>
                <a:latin typeface="Microsoft YaHei"/>
              </a:rPr>
              <a:t>반경 실시간 분석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66853" y="4972223"/>
            <a:ext cx="8513554" cy="4342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99" b="1" i="1">
                <a:solidFill>
                  <a:srgbClr val="411B38"/>
                </a:solidFill>
                <a:latin typeface="Microsoft YaHei"/>
              </a:rPr>
              <a:t>알고리즘 특징</a:t>
            </a:r>
            <a:r>
              <a:rPr sz="1199" b="1" i="1">
                <a:solidFill>
                  <a:srgbClr val="411B38"/>
                </a:solidFill>
                <a:latin typeface="Unbounded"/>
              </a:rPr>
              <a:t>: </a:t>
            </a:r>
            <a:r>
              <a:rPr sz="1199" b="0" i="1">
                <a:solidFill>
                  <a:srgbClr val="411B38"/>
                </a:solidFill>
                <a:latin typeface="Unbounded"/>
              </a:rPr>
              <a:t> </a:t>
            </a:r>
            <a:r>
              <a:rPr sz="1199" b="0" i="1">
                <a:solidFill>
                  <a:srgbClr val="411B38"/>
                </a:solidFill>
                <a:latin typeface="Microsoft YaHei"/>
              </a:rPr>
              <a:t>실제 사고 데이터와 인프라 현황을 결합하여 객관적이고 정량적인 위험도 평가가 가능하며</a:t>
            </a:r>
            <a:r>
              <a:rPr sz="1199" b="0" i="1">
                <a:solidFill>
                  <a:srgbClr val="411B38"/>
                </a:solidFill>
                <a:latin typeface="Unbounded"/>
              </a:rPr>
              <a:t>, </a:t>
            </a:r>
            <a:r>
              <a:rPr sz="1199" b="0" i="1">
                <a:solidFill>
                  <a:srgbClr val="411B38"/>
                </a:solidFill>
                <a:latin typeface="Microsoft YaHei"/>
              </a:rPr>
              <a:t>우선순위 기반 개선 방향을 제시합니다</a:t>
            </a:r>
            <a:r>
              <a:rPr sz="1199" b="0" i="1">
                <a:solidFill>
                  <a:srgbClr val="411B38"/>
                </a:solidFill>
                <a:latin typeface="Unbounded"/>
              </a:rPr>
              <a:t>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82" y="2897511"/>
            <a:ext cx="228594" cy="200193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69" y="3383076"/>
            <a:ext cx="200019" cy="22859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644" y="3881340"/>
            <a:ext cx="142871" cy="22859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782" y="4393891"/>
            <a:ext cx="228594" cy="20001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589049" y="304792"/>
            <a:ext cx="5242185" cy="47623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999" b="1" i="0">
                <a:solidFill>
                  <a:srgbClr val="411B38"/>
                </a:solidFill>
                <a:latin typeface="Microsoft YaHei"/>
              </a:rPr>
              <a:t>주요 기능 </a:t>
            </a:r>
            <a:r>
              <a:rPr sz="2999" b="1" i="0">
                <a:solidFill>
                  <a:srgbClr val="411B38"/>
                </a:solidFill>
                <a:latin typeface="Unbounded"/>
              </a:rPr>
              <a:t>(1) - </a:t>
            </a:r>
            <a:r>
              <a:rPr sz="2999" b="1" i="0">
                <a:solidFill>
                  <a:srgbClr val="411B38"/>
                </a:solidFill>
                <a:latin typeface="Microsoft YaHei"/>
              </a:rPr>
              <a:t>분석 및 시각화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782" y="2191439"/>
            <a:ext cx="2692556" cy="3333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99" b="1" i="0">
                <a:solidFill>
                  <a:srgbClr val="411B38"/>
                </a:solidFill>
                <a:latin typeface="Microsoft YaHei"/>
              </a:rPr>
              <a:t>인터랙티브 지도 분석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377" y="2903861"/>
            <a:ext cx="4846503" cy="180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39" b="1" i="0">
                <a:solidFill>
                  <a:srgbClr val="411B38"/>
                </a:solidFill>
                <a:latin typeface="Microsoft YaHei"/>
              </a:rPr>
              <a:t>행정구역별 자유로운 지역 이동</a:t>
            </a:r>
            <a:r>
              <a:rPr sz="1139" b="1" i="0">
                <a:solidFill>
                  <a:srgbClr val="411B38"/>
                </a:solidFill>
                <a:latin typeface="Unbounded"/>
              </a:rPr>
              <a:t>: </a:t>
            </a:r>
            <a:r>
              <a:rPr sz="1139" b="0" i="0">
                <a:solidFill>
                  <a:srgbClr val="6B4C57"/>
                </a:solidFill>
                <a:latin typeface="Unbounded"/>
              </a:rPr>
              <a:t> </a:t>
            </a:r>
            <a:r>
              <a:rPr sz="1139" b="0" i="0">
                <a:solidFill>
                  <a:srgbClr val="6B4C57"/>
                </a:solidFill>
                <a:latin typeface="Microsoft YaHei"/>
              </a:rPr>
              <a:t>시도</a:t>
            </a:r>
            <a:r>
              <a:rPr sz="1139" b="0" i="0">
                <a:solidFill>
                  <a:srgbClr val="6B4C57"/>
                </a:solidFill>
                <a:latin typeface="Unbounded"/>
              </a:rPr>
              <a:t>, </a:t>
            </a:r>
            <a:r>
              <a:rPr sz="1139" b="0" i="0">
                <a:solidFill>
                  <a:srgbClr val="6B4C57"/>
                </a:solidFill>
                <a:latin typeface="Microsoft YaHei"/>
              </a:rPr>
              <a:t>시군구 단위로 실시간 데이터 탐색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377" y="3402125"/>
            <a:ext cx="4707203" cy="180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39" b="1" i="0">
                <a:solidFill>
                  <a:srgbClr val="411B38"/>
                </a:solidFill>
                <a:latin typeface="Microsoft YaHei"/>
              </a:rPr>
              <a:t>월별 사고 분포 시각화</a:t>
            </a:r>
            <a:r>
              <a:rPr sz="1139" b="1" i="0">
                <a:solidFill>
                  <a:srgbClr val="411B38"/>
                </a:solidFill>
                <a:latin typeface="Unbounded"/>
              </a:rPr>
              <a:t>: </a:t>
            </a:r>
            <a:r>
              <a:rPr sz="1139" b="0" i="0">
                <a:solidFill>
                  <a:srgbClr val="6B4C57"/>
                </a:solidFill>
                <a:latin typeface="Unbounded"/>
              </a:rPr>
              <a:t> </a:t>
            </a:r>
            <a:r>
              <a:rPr sz="1139" b="0" i="0">
                <a:solidFill>
                  <a:srgbClr val="6B4C57"/>
                </a:solidFill>
                <a:latin typeface="Microsoft YaHei"/>
              </a:rPr>
              <a:t>시간대별 패턴 분석과 사고 다발지역 마커 표시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377" y="3900389"/>
            <a:ext cx="4417889" cy="180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39" b="1" i="0">
                <a:solidFill>
                  <a:srgbClr val="411B38"/>
                </a:solidFill>
                <a:latin typeface="Microsoft YaHei"/>
              </a:rPr>
              <a:t>교통 시설 위치 데이터</a:t>
            </a:r>
            <a:r>
              <a:rPr sz="1139" b="1" i="0">
                <a:solidFill>
                  <a:srgbClr val="411B38"/>
                </a:solidFill>
                <a:latin typeface="Unbounded"/>
              </a:rPr>
              <a:t>: </a:t>
            </a:r>
            <a:r>
              <a:rPr sz="1139" b="0" i="0">
                <a:solidFill>
                  <a:srgbClr val="6B4C57"/>
                </a:solidFill>
                <a:latin typeface="Unbounded"/>
              </a:rPr>
              <a:t> </a:t>
            </a:r>
            <a:r>
              <a:rPr sz="1139" b="0" i="0">
                <a:solidFill>
                  <a:srgbClr val="6B4C57"/>
                </a:solidFill>
                <a:latin typeface="Microsoft YaHei"/>
              </a:rPr>
              <a:t>횡단보도 및 신호등 설치 현황 레이어 표시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377" y="4398654"/>
            <a:ext cx="4881477" cy="180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39" b="1" i="0">
                <a:solidFill>
                  <a:srgbClr val="411B38"/>
                </a:solidFill>
                <a:latin typeface="Unbounded"/>
              </a:rPr>
              <a:t>KPI </a:t>
            </a:r>
            <a:r>
              <a:rPr sz="1139" b="1" i="0">
                <a:solidFill>
                  <a:srgbClr val="411B38"/>
                </a:solidFill>
                <a:latin typeface="Microsoft YaHei"/>
              </a:rPr>
              <a:t>중심 대시보드</a:t>
            </a:r>
            <a:r>
              <a:rPr sz="1139" b="1" i="0">
                <a:solidFill>
                  <a:srgbClr val="411B38"/>
                </a:solidFill>
                <a:latin typeface="Unbounded"/>
              </a:rPr>
              <a:t>: </a:t>
            </a:r>
            <a:r>
              <a:rPr sz="1139" b="0" i="0">
                <a:solidFill>
                  <a:srgbClr val="6B4C57"/>
                </a:solidFill>
                <a:latin typeface="Unbounded"/>
              </a:rPr>
              <a:t> </a:t>
            </a:r>
            <a:r>
              <a:rPr sz="1139" b="0" i="0">
                <a:solidFill>
                  <a:srgbClr val="6B4C57"/>
                </a:solidFill>
                <a:latin typeface="Microsoft YaHei"/>
              </a:rPr>
              <a:t>지역별 신호등 설치율과 안전</a:t>
            </a:r>
            <a:r>
              <a:rPr sz="1139" b="0" i="0">
                <a:solidFill>
                  <a:srgbClr val="6B4C57"/>
                </a:solidFill>
                <a:latin typeface="Unbounded"/>
              </a:rPr>
              <a:t>/</a:t>
            </a:r>
            <a:r>
              <a:rPr sz="1139" b="0" i="0">
                <a:solidFill>
                  <a:srgbClr val="6B4C57"/>
                </a:solidFill>
                <a:latin typeface="Microsoft YaHei"/>
              </a:rPr>
              <a:t>위험 지수 실시간 표출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79" y="5125512"/>
            <a:ext cx="5381776" cy="3704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25" b="1" i="1">
                <a:solidFill>
                  <a:srgbClr val="6B4C57"/>
                </a:solidFill>
                <a:latin typeface="Microsoft YaHei"/>
              </a:rPr>
              <a:t>핵심 기술</a:t>
            </a:r>
            <a:r>
              <a:rPr sz="1025" b="1" i="1">
                <a:solidFill>
                  <a:srgbClr val="6B4C57"/>
                </a:solidFill>
                <a:latin typeface="Unbounded"/>
              </a:rPr>
              <a:t>: </a:t>
            </a:r>
            <a:r>
              <a:rPr sz="1025" b="0" i="1">
                <a:solidFill>
                  <a:srgbClr val="6B4C57"/>
                </a:solidFill>
                <a:latin typeface="Unbounded"/>
              </a:rPr>
              <a:t> Leaflet </a:t>
            </a:r>
            <a:r>
              <a:rPr sz="1025" b="0" i="1">
                <a:solidFill>
                  <a:srgbClr val="6B4C57"/>
                </a:solidFill>
                <a:latin typeface="Microsoft YaHei"/>
              </a:rPr>
              <a:t>기반 인터랙티브 지도와 </a:t>
            </a:r>
            <a:r>
              <a:rPr sz="1025" b="0" i="1">
                <a:solidFill>
                  <a:srgbClr val="6B4C57"/>
                </a:solidFill>
                <a:latin typeface="Unbounded"/>
              </a:rPr>
              <a:t>Chart.js</a:t>
            </a:r>
            <a:r>
              <a:rPr sz="1025" b="0" i="1">
                <a:solidFill>
                  <a:srgbClr val="6B4C57"/>
                </a:solidFill>
                <a:latin typeface="Microsoft YaHei"/>
              </a:rPr>
              <a:t>를 활용한 실시간 데이터 시각화로 직관적인 분석 환경 제공 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2B381F12-F793-4648-9D48-8B691ED1B8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7175" y="1960850"/>
            <a:ext cx="4816181" cy="38409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144" y="2853410"/>
            <a:ext cx="171445" cy="228002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3566" y="3374533"/>
            <a:ext cx="228586" cy="1828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3548" y="3864188"/>
            <a:ext cx="228616" cy="19291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3570" y="4371061"/>
            <a:ext cx="228594" cy="18290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3570" y="4960763"/>
            <a:ext cx="8044554" cy="472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53361" y="304792"/>
            <a:ext cx="4667843" cy="3809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399" b="1" i="0">
                <a:solidFill>
                  <a:srgbClr val="411B38"/>
                </a:solidFill>
                <a:latin typeface="Microsoft YaHei"/>
              </a:rPr>
              <a:t>주요 기능 </a:t>
            </a:r>
            <a:r>
              <a:rPr sz="2399" b="1" i="0">
                <a:solidFill>
                  <a:srgbClr val="411B38"/>
                </a:solidFill>
                <a:latin typeface="Unbounded"/>
              </a:rPr>
              <a:t>(2) - </a:t>
            </a:r>
            <a:r>
              <a:rPr sz="2399" b="1" i="0">
                <a:solidFill>
                  <a:srgbClr val="411B38"/>
                </a:solidFill>
                <a:latin typeface="Microsoft YaHei"/>
              </a:rPr>
              <a:t>시민 참여 및 관리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73570" y="2262875"/>
            <a:ext cx="3278534" cy="2857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99" b="1" i="0">
                <a:solidFill>
                  <a:srgbClr val="411B38"/>
                </a:solidFill>
                <a:latin typeface="Microsoft YaHei"/>
              </a:rPr>
              <a:t>시민 중심의 참여형 안전 관리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02164" y="2872459"/>
            <a:ext cx="5073162" cy="180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39" b="1" i="0">
                <a:solidFill>
                  <a:srgbClr val="411B38"/>
                </a:solidFill>
                <a:latin typeface="Microsoft YaHei"/>
              </a:rPr>
              <a:t>지도 기반 건의 시스템</a:t>
            </a:r>
            <a:r>
              <a:rPr sz="1139" b="1" i="0">
                <a:solidFill>
                  <a:srgbClr val="411B38"/>
                </a:solidFill>
                <a:latin typeface="Unbounded"/>
              </a:rPr>
              <a:t>: </a:t>
            </a:r>
            <a:r>
              <a:rPr sz="1139" b="0" i="0">
                <a:solidFill>
                  <a:srgbClr val="6B4C57"/>
                </a:solidFill>
                <a:latin typeface="Unbounded"/>
              </a:rPr>
              <a:t> </a:t>
            </a:r>
            <a:r>
              <a:rPr sz="1139" b="0" i="0">
                <a:solidFill>
                  <a:srgbClr val="6B4C57"/>
                </a:solidFill>
                <a:latin typeface="Microsoft YaHei"/>
              </a:rPr>
              <a:t>실시간 위험 지수 확인과 신호등 설치 건의 작성 기능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02164" y="3370723"/>
            <a:ext cx="4662556" cy="180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39" b="1" i="0">
                <a:solidFill>
                  <a:srgbClr val="411B38"/>
                </a:solidFill>
                <a:latin typeface="Microsoft YaHei"/>
              </a:rPr>
              <a:t>소통 플랫폼</a:t>
            </a:r>
            <a:r>
              <a:rPr sz="1139" b="1" i="0">
                <a:solidFill>
                  <a:srgbClr val="411B38"/>
                </a:solidFill>
                <a:latin typeface="Unbounded"/>
              </a:rPr>
              <a:t>: </a:t>
            </a:r>
            <a:r>
              <a:rPr sz="1139" b="0" i="0">
                <a:solidFill>
                  <a:srgbClr val="6B4C57"/>
                </a:solidFill>
                <a:latin typeface="Unbounded"/>
              </a:rPr>
              <a:t> </a:t>
            </a:r>
            <a:r>
              <a:rPr sz="1139" b="0" i="0">
                <a:solidFill>
                  <a:srgbClr val="6B4C57"/>
                </a:solidFill>
                <a:latin typeface="Microsoft YaHei"/>
              </a:rPr>
              <a:t>사용자 간 댓글 및 </a:t>
            </a:r>
            <a:r>
              <a:rPr sz="1139" b="0" i="0">
                <a:solidFill>
                  <a:srgbClr val="6B4C57"/>
                </a:solidFill>
                <a:latin typeface="Unbounded"/>
              </a:rPr>
              <a:t>'</a:t>
            </a:r>
            <a:r>
              <a:rPr sz="1139" b="0" i="0">
                <a:solidFill>
                  <a:srgbClr val="6B4C57"/>
                </a:solidFill>
                <a:latin typeface="Microsoft YaHei"/>
              </a:rPr>
              <a:t>좋아요</a:t>
            </a:r>
            <a:r>
              <a:rPr sz="1139" b="0" i="0">
                <a:solidFill>
                  <a:srgbClr val="6B4C57"/>
                </a:solidFill>
                <a:latin typeface="Unbounded"/>
              </a:rPr>
              <a:t>' </a:t>
            </a:r>
            <a:r>
              <a:rPr sz="1139" b="0" i="0">
                <a:solidFill>
                  <a:srgbClr val="6B4C57"/>
                </a:solidFill>
                <a:latin typeface="Microsoft YaHei"/>
              </a:rPr>
              <a:t>기능으로 지역 안전 이슈 공유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02164" y="3868987"/>
            <a:ext cx="4565076" cy="180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39" b="1" i="0" dirty="0" err="1">
                <a:solidFill>
                  <a:srgbClr val="411B38"/>
                </a:solidFill>
                <a:latin typeface="Microsoft YaHei"/>
              </a:rPr>
              <a:t>처리</a:t>
            </a:r>
            <a:r>
              <a:rPr sz="1139" b="1" i="0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139" b="1" i="0" dirty="0" err="1">
                <a:solidFill>
                  <a:srgbClr val="411B38"/>
                </a:solidFill>
                <a:latin typeface="Microsoft YaHei"/>
              </a:rPr>
              <a:t>상태</a:t>
            </a:r>
            <a:r>
              <a:rPr sz="1139" b="1" i="0" dirty="0">
                <a:solidFill>
                  <a:srgbClr val="411B38"/>
                </a:solidFill>
                <a:latin typeface="Microsoft YaHei"/>
              </a:rPr>
              <a:t> </a:t>
            </a:r>
            <a:r>
              <a:rPr sz="1139" b="1" i="0" dirty="0" err="1">
                <a:solidFill>
                  <a:srgbClr val="411B38"/>
                </a:solidFill>
                <a:latin typeface="Microsoft YaHei"/>
              </a:rPr>
              <a:t>추적</a:t>
            </a:r>
            <a:r>
              <a:rPr sz="1139" b="1" i="0" dirty="0">
                <a:solidFill>
                  <a:srgbClr val="411B38"/>
                </a:solidFill>
                <a:latin typeface="Unbounded"/>
              </a:rPr>
              <a:t>: </a:t>
            </a:r>
            <a:r>
              <a:rPr sz="1139" b="0" i="0" dirty="0">
                <a:solidFill>
                  <a:srgbClr val="6B4C57"/>
                </a:solidFill>
                <a:latin typeface="Unbounded"/>
              </a:rPr>
              <a:t> </a:t>
            </a:r>
            <a:r>
              <a:rPr sz="1139" b="0" i="0" dirty="0" err="1">
                <a:solidFill>
                  <a:srgbClr val="6B4C57"/>
                </a:solidFill>
                <a:latin typeface="Microsoft YaHei"/>
              </a:rPr>
              <a:t>관리자</a:t>
            </a:r>
            <a:r>
              <a:rPr sz="1139" b="0" i="0" dirty="0">
                <a:solidFill>
                  <a:srgbClr val="6B4C57"/>
                </a:solidFill>
                <a:latin typeface="Microsoft YaHei"/>
              </a:rPr>
              <a:t> </a:t>
            </a:r>
            <a:r>
              <a:rPr sz="1139" b="0" i="0" dirty="0" err="1">
                <a:solidFill>
                  <a:srgbClr val="6B4C57"/>
                </a:solidFill>
                <a:latin typeface="Microsoft YaHei"/>
              </a:rPr>
              <a:t>검토부터</a:t>
            </a:r>
            <a:r>
              <a:rPr sz="1139" b="0" i="0" dirty="0">
                <a:solidFill>
                  <a:srgbClr val="6B4C57"/>
                </a:solidFill>
                <a:latin typeface="Microsoft YaHei"/>
              </a:rPr>
              <a:t> </a:t>
            </a:r>
            <a:r>
              <a:rPr sz="1139" b="0" i="0" dirty="0" err="1">
                <a:solidFill>
                  <a:srgbClr val="6B4C57"/>
                </a:solidFill>
                <a:latin typeface="Microsoft YaHei"/>
              </a:rPr>
              <a:t>처리</a:t>
            </a:r>
            <a:r>
              <a:rPr sz="1139" b="0" i="0" dirty="0">
                <a:solidFill>
                  <a:srgbClr val="6B4C57"/>
                </a:solidFill>
                <a:latin typeface="Microsoft YaHei"/>
              </a:rPr>
              <a:t> </a:t>
            </a:r>
            <a:r>
              <a:rPr sz="1139" b="0" i="0" dirty="0" err="1">
                <a:solidFill>
                  <a:srgbClr val="6B4C57"/>
                </a:solidFill>
                <a:latin typeface="Microsoft YaHei"/>
              </a:rPr>
              <a:t>완료까지</a:t>
            </a:r>
            <a:r>
              <a:rPr sz="1139" b="0" i="0" dirty="0">
                <a:solidFill>
                  <a:srgbClr val="6B4C57"/>
                </a:solidFill>
                <a:latin typeface="Microsoft YaHei"/>
              </a:rPr>
              <a:t> 전 </a:t>
            </a:r>
            <a:r>
              <a:rPr sz="1139" b="0" i="0" dirty="0" err="1">
                <a:solidFill>
                  <a:srgbClr val="6B4C57"/>
                </a:solidFill>
                <a:latin typeface="Microsoft YaHei"/>
              </a:rPr>
              <a:t>과정</a:t>
            </a:r>
            <a:r>
              <a:rPr sz="1139" b="0" i="0" dirty="0">
                <a:solidFill>
                  <a:srgbClr val="6B4C57"/>
                </a:solidFill>
                <a:latin typeface="Microsoft YaHei"/>
              </a:rPr>
              <a:t> </a:t>
            </a:r>
            <a:r>
              <a:rPr sz="1139" b="0" i="0" dirty="0" err="1">
                <a:solidFill>
                  <a:srgbClr val="6B4C57"/>
                </a:solidFill>
                <a:latin typeface="Microsoft YaHei"/>
              </a:rPr>
              <a:t>투명한</a:t>
            </a:r>
            <a:r>
              <a:rPr sz="1139" b="0" i="0" dirty="0">
                <a:solidFill>
                  <a:srgbClr val="6B4C57"/>
                </a:solidFill>
                <a:latin typeface="Microsoft YaHei"/>
              </a:rPr>
              <a:t> </a:t>
            </a:r>
            <a:r>
              <a:rPr sz="1139" b="0" i="0" dirty="0" err="1">
                <a:solidFill>
                  <a:srgbClr val="6B4C57"/>
                </a:solidFill>
                <a:latin typeface="Microsoft YaHei"/>
              </a:rPr>
              <a:t>관리</a:t>
            </a:r>
            <a:r>
              <a:rPr sz="1139" b="0" i="0" dirty="0">
                <a:solidFill>
                  <a:srgbClr val="6B4C57"/>
                </a:solidFill>
                <a:latin typeface="Microsoft YaHei"/>
              </a:rP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02164" y="4367252"/>
            <a:ext cx="4899336" cy="180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39" b="1" i="0">
                <a:solidFill>
                  <a:srgbClr val="411B38"/>
                </a:solidFill>
                <a:latin typeface="Unbounded"/>
              </a:rPr>
              <a:t>OAuth2 </a:t>
            </a:r>
            <a:r>
              <a:rPr sz="1139" b="1" i="0">
                <a:solidFill>
                  <a:srgbClr val="411B38"/>
                </a:solidFill>
                <a:latin typeface="Microsoft YaHei"/>
              </a:rPr>
              <a:t>인증</a:t>
            </a:r>
            <a:r>
              <a:rPr sz="1139" b="1" i="0">
                <a:solidFill>
                  <a:srgbClr val="411B38"/>
                </a:solidFill>
                <a:latin typeface="Unbounded"/>
              </a:rPr>
              <a:t>: </a:t>
            </a:r>
            <a:r>
              <a:rPr sz="1139" b="0" i="0">
                <a:solidFill>
                  <a:srgbClr val="6B4C57"/>
                </a:solidFill>
                <a:latin typeface="Unbounded"/>
              </a:rPr>
              <a:t> </a:t>
            </a:r>
            <a:r>
              <a:rPr sz="1139" b="0" i="0">
                <a:solidFill>
                  <a:srgbClr val="6B4C57"/>
                </a:solidFill>
                <a:latin typeface="Microsoft YaHei"/>
              </a:rPr>
              <a:t>구글</a:t>
            </a:r>
            <a:r>
              <a:rPr sz="1139" b="0" i="0">
                <a:solidFill>
                  <a:srgbClr val="6B4C57"/>
                </a:solidFill>
                <a:latin typeface="Unbounded"/>
              </a:rPr>
              <a:t>, </a:t>
            </a:r>
            <a:r>
              <a:rPr sz="1139" b="0" i="0">
                <a:solidFill>
                  <a:srgbClr val="6B4C57"/>
                </a:solidFill>
                <a:latin typeface="Microsoft YaHei"/>
              </a:rPr>
              <a:t>네이버</a:t>
            </a:r>
            <a:r>
              <a:rPr sz="1139" b="0" i="0">
                <a:solidFill>
                  <a:srgbClr val="6B4C57"/>
                </a:solidFill>
                <a:latin typeface="Unbounded"/>
              </a:rPr>
              <a:t>, </a:t>
            </a:r>
            <a:r>
              <a:rPr sz="1139" b="0" i="0">
                <a:solidFill>
                  <a:srgbClr val="6B4C57"/>
                </a:solidFill>
                <a:latin typeface="Microsoft YaHei"/>
              </a:rPr>
              <a:t>깃허브 소셜 로그인과 개인 활동 내역 관리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87867" y="5094110"/>
            <a:ext cx="8021689" cy="1904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99" b="1" i="1">
                <a:solidFill>
                  <a:srgbClr val="411B38"/>
                </a:solidFill>
                <a:latin typeface="Microsoft YaHei"/>
              </a:rPr>
              <a:t>핵심 가치</a:t>
            </a:r>
            <a:r>
              <a:rPr sz="1199" b="1" i="1">
                <a:solidFill>
                  <a:srgbClr val="411B38"/>
                </a:solidFill>
                <a:latin typeface="Unbounded"/>
              </a:rPr>
              <a:t>: </a:t>
            </a:r>
            <a:r>
              <a:rPr sz="1199" b="0" i="1">
                <a:solidFill>
                  <a:srgbClr val="411B38"/>
                </a:solidFill>
                <a:latin typeface="Unbounded"/>
              </a:rPr>
              <a:t> </a:t>
            </a:r>
            <a:r>
              <a:rPr sz="1199" b="0" i="1">
                <a:solidFill>
                  <a:srgbClr val="411B38"/>
                </a:solidFill>
                <a:latin typeface="Microsoft YaHei"/>
              </a:rPr>
              <a:t>시민의 직접적인 참여를 통해 지역별 교통 안전 문제를 신속하게 발견하고 해결하는 협력적 거버넌스 구현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556" y="2731523"/>
            <a:ext cx="228594" cy="2285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572" y="3244074"/>
            <a:ext cx="228578" cy="20001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2556" y="3742338"/>
            <a:ext cx="228594" cy="20001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3865" y="4252032"/>
            <a:ext cx="224427" cy="17870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2556" y="4838876"/>
            <a:ext cx="8686582" cy="71614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06085" y="304792"/>
            <a:ext cx="3762395" cy="3809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399" b="1" i="0">
                <a:solidFill>
                  <a:srgbClr val="411B38"/>
                </a:solidFill>
                <a:latin typeface="Microsoft YaHei"/>
              </a:rPr>
              <a:t>우선순위 기반 개선 시스템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52556" y="2140987"/>
            <a:ext cx="3221832" cy="2857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99" b="1" i="0">
                <a:solidFill>
                  <a:srgbClr val="411B38"/>
                </a:solidFill>
                <a:latin typeface="Microsoft YaHei"/>
              </a:rPr>
              <a:t>정량적 우선순위 도출 시스템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1150" y="2750572"/>
            <a:ext cx="4161762" cy="180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39" b="1" i="0">
                <a:solidFill>
                  <a:srgbClr val="411B38"/>
                </a:solidFill>
                <a:latin typeface="Microsoft YaHei"/>
              </a:rPr>
              <a:t>매우 높음 </a:t>
            </a:r>
            <a:r>
              <a:rPr sz="1139" b="1" i="0">
                <a:solidFill>
                  <a:srgbClr val="411B38"/>
                </a:solidFill>
                <a:latin typeface="Unbounded"/>
              </a:rPr>
              <a:t>(80-100): </a:t>
            </a:r>
            <a:r>
              <a:rPr sz="1139" b="0" i="1">
                <a:solidFill>
                  <a:srgbClr val="6B4C57"/>
                </a:solidFill>
                <a:latin typeface="Unbounded"/>
              </a:rPr>
              <a:t> </a:t>
            </a:r>
            <a:r>
              <a:rPr sz="1139" b="0" i="1">
                <a:solidFill>
                  <a:srgbClr val="6B4C57"/>
                </a:solidFill>
                <a:latin typeface="Microsoft YaHei"/>
              </a:rPr>
              <a:t>즉시 개선 필요 지역</a:t>
            </a:r>
            <a:r>
              <a:rPr sz="1139" b="0" i="1">
                <a:solidFill>
                  <a:srgbClr val="6B4C57"/>
                </a:solidFill>
                <a:latin typeface="Unbounded"/>
              </a:rPr>
              <a:t>, </a:t>
            </a:r>
            <a:r>
              <a:rPr sz="1139" b="0" i="1">
                <a:solidFill>
                  <a:srgbClr val="6B4C57"/>
                </a:solidFill>
                <a:latin typeface="Microsoft YaHei"/>
              </a:rPr>
              <a:t>최우선 처리 대상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81150" y="3248836"/>
            <a:ext cx="3575096" cy="180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39" b="1" i="0">
                <a:solidFill>
                  <a:srgbClr val="411B38"/>
                </a:solidFill>
                <a:latin typeface="Microsoft YaHei"/>
              </a:rPr>
              <a:t>높음 </a:t>
            </a:r>
            <a:r>
              <a:rPr sz="1139" b="1" i="0">
                <a:solidFill>
                  <a:srgbClr val="411B38"/>
                </a:solidFill>
                <a:latin typeface="Unbounded"/>
              </a:rPr>
              <a:t>(60-79): </a:t>
            </a:r>
            <a:r>
              <a:rPr sz="1139" b="0" i="1">
                <a:solidFill>
                  <a:srgbClr val="6B4C57"/>
                </a:solidFill>
                <a:latin typeface="Unbounded"/>
              </a:rPr>
              <a:t> </a:t>
            </a:r>
            <a:r>
              <a:rPr sz="1139" b="0" i="1">
                <a:solidFill>
                  <a:srgbClr val="6B4C57"/>
                </a:solidFill>
                <a:latin typeface="Microsoft YaHei"/>
              </a:rPr>
              <a:t>우선 개선 필요 지역</a:t>
            </a:r>
            <a:r>
              <a:rPr sz="1139" b="0" i="1">
                <a:solidFill>
                  <a:srgbClr val="6B4C57"/>
                </a:solidFill>
                <a:latin typeface="Unbounded"/>
              </a:rPr>
              <a:t>, </a:t>
            </a:r>
            <a:r>
              <a:rPr sz="1139" b="0" i="1">
                <a:solidFill>
                  <a:srgbClr val="6B4C57"/>
                </a:solidFill>
                <a:latin typeface="Microsoft YaHei"/>
              </a:rPr>
              <a:t>단기 계획 수립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81150" y="3716740"/>
            <a:ext cx="4496914" cy="2416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39" b="1" i="0">
                <a:solidFill>
                  <a:srgbClr val="411B38"/>
                </a:solidFill>
                <a:latin typeface="Unbounded"/>
              </a:rPr>
              <a:t>5</a:t>
            </a:r>
            <a:r>
              <a:rPr sz="1139" b="1" i="0">
                <a:solidFill>
                  <a:srgbClr val="411B38"/>
                </a:solidFill>
                <a:latin typeface="Microsoft YaHei"/>
              </a:rPr>
              <a:t>단계 레벨 시스템 </a:t>
            </a:r>
            <a:r>
              <a:rPr sz="1139" b="0" i="0">
                <a:solidFill>
                  <a:srgbClr val="411B38"/>
                </a:solidFill>
                <a:latin typeface="Unbounded"/>
              </a:rPr>
              <a:t> </a:t>
            </a:r>
            <a:r>
              <a:rPr sz="1139" b="0" i="0">
                <a:solidFill>
                  <a:srgbClr val="411B38"/>
                </a:solidFill>
                <a:latin typeface="Microsoft YaHei"/>
              </a:rPr>
              <a:t>으로 위험 지수에 따른 체계적인 우선순위 분류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81150" y="4245364"/>
            <a:ext cx="5326610" cy="180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39" b="1" i="0">
                <a:solidFill>
                  <a:srgbClr val="411B38"/>
                </a:solidFill>
                <a:latin typeface="Microsoft YaHei"/>
              </a:rPr>
              <a:t>행정 효율성 극대화</a:t>
            </a:r>
            <a:r>
              <a:rPr sz="1139" b="1" i="0">
                <a:solidFill>
                  <a:srgbClr val="411B38"/>
                </a:solidFill>
                <a:latin typeface="Unbounded"/>
              </a:rPr>
              <a:t>: </a:t>
            </a:r>
            <a:r>
              <a:rPr sz="1139" b="0" i="1">
                <a:solidFill>
                  <a:srgbClr val="6B4C57"/>
                </a:solidFill>
                <a:latin typeface="Unbounded"/>
              </a:rPr>
              <a:t> </a:t>
            </a:r>
            <a:r>
              <a:rPr sz="1139" b="0" i="1">
                <a:solidFill>
                  <a:srgbClr val="6B4C57"/>
                </a:solidFill>
                <a:latin typeface="Microsoft YaHei"/>
              </a:rPr>
              <a:t>실제 사고 위험도가 높은 지역의 시민 건의사항을 우선 처리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66853" y="4972223"/>
            <a:ext cx="8559541" cy="4342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99" b="1" i="1">
                <a:solidFill>
                  <a:srgbClr val="411B38"/>
                </a:solidFill>
                <a:latin typeface="Microsoft YaHei"/>
              </a:rPr>
              <a:t>기대 효과</a:t>
            </a:r>
            <a:r>
              <a:rPr sz="1199" b="1" i="1">
                <a:solidFill>
                  <a:srgbClr val="411B38"/>
                </a:solidFill>
                <a:latin typeface="Unbounded"/>
              </a:rPr>
              <a:t>: </a:t>
            </a:r>
            <a:r>
              <a:rPr sz="1199" b="0" i="1">
                <a:solidFill>
                  <a:srgbClr val="411B38"/>
                </a:solidFill>
                <a:latin typeface="Unbounded"/>
              </a:rPr>
              <a:t> </a:t>
            </a:r>
            <a:r>
              <a:rPr sz="1199" b="0" i="1">
                <a:solidFill>
                  <a:srgbClr val="411B38"/>
                </a:solidFill>
                <a:latin typeface="Microsoft YaHei"/>
              </a:rPr>
              <a:t>데이터 기반의 객관적 우선순위 설정으로 한정된 예산과 인력을 가장 효과적인 곳에 집중 투입하여 보행자 안전 개선의 실질적 성과를 달성할 수 있습니다</a:t>
            </a:r>
            <a:r>
              <a:rPr sz="1199" b="0" i="1">
                <a:solidFill>
                  <a:srgbClr val="411B38"/>
                </a:solidFill>
                <a:latin typeface="Unbounded"/>
              </a:rPr>
              <a:t>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556" y="2356485"/>
            <a:ext cx="228594" cy="20001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556" y="3094892"/>
            <a:ext cx="228594" cy="1828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3865" y="3827585"/>
            <a:ext cx="224427" cy="17870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036" y="2365057"/>
            <a:ext cx="228594" cy="182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0179" y="3072033"/>
            <a:ext cx="157158" cy="22859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3036" y="3847586"/>
            <a:ext cx="228594" cy="137143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97263" y="5026990"/>
            <a:ext cx="7397168" cy="11459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15669" y="304792"/>
            <a:ext cx="2543225" cy="3809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399" b="1" i="0">
                <a:solidFill>
                  <a:srgbClr val="411B38"/>
                </a:solidFill>
                <a:latin typeface="Microsoft YaHei"/>
              </a:rPr>
              <a:t>결론 및 향후 계획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52556" y="1751663"/>
            <a:ext cx="1736862" cy="2857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99" b="1" i="0">
                <a:solidFill>
                  <a:srgbClr val="411B38"/>
                </a:solidFill>
                <a:latin typeface="Microsoft YaHei"/>
              </a:rPr>
              <a:t>프로젝트 성과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81150" y="2361247"/>
            <a:ext cx="3763061" cy="4125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39" b="1" i="0">
                <a:solidFill>
                  <a:srgbClr val="411B38"/>
                </a:solidFill>
                <a:latin typeface="Microsoft YaHei"/>
              </a:rPr>
              <a:t>데이터 기반 객관적 평가</a:t>
            </a:r>
            <a:r>
              <a:rPr sz="1139" b="1" i="0">
                <a:solidFill>
                  <a:srgbClr val="411B38"/>
                </a:solidFill>
                <a:latin typeface="Unbounded"/>
              </a:rPr>
              <a:t>: </a:t>
            </a:r>
            <a:r>
              <a:rPr sz="1139" b="0" i="0">
                <a:solidFill>
                  <a:srgbClr val="411B38"/>
                </a:solidFill>
                <a:latin typeface="Unbounded"/>
              </a:rPr>
              <a:t> </a:t>
            </a:r>
            <a:r>
              <a:rPr sz="1139" b="0" i="0">
                <a:solidFill>
                  <a:srgbClr val="411B38"/>
                </a:solidFill>
                <a:latin typeface="Microsoft YaHei"/>
              </a:rPr>
              <a:t>위험 및 안전 지수를 통한 정량적 교통 안전 평가 지표 마련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81150" y="3091082"/>
            <a:ext cx="3688798" cy="4125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39" b="1" i="0">
                <a:solidFill>
                  <a:srgbClr val="411B38"/>
                </a:solidFill>
                <a:latin typeface="Microsoft YaHei"/>
              </a:rPr>
              <a:t>시민 참여형 플랫폼</a:t>
            </a:r>
            <a:r>
              <a:rPr sz="1139" b="1" i="0">
                <a:solidFill>
                  <a:srgbClr val="411B38"/>
                </a:solidFill>
                <a:latin typeface="Unbounded"/>
              </a:rPr>
              <a:t>: </a:t>
            </a:r>
            <a:r>
              <a:rPr sz="1139" b="0" i="0">
                <a:solidFill>
                  <a:srgbClr val="411B38"/>
                </a:solidFill>
                <a:latin typeface="Unbounded"/>
              </a:rPr>
              <a:t> </a:t>
            </a:r>
            <a:r>
              <a:rPr sz="1139" b="0" i="0">
                <a:solidFill>
                  <a:srgbClr val="411B38"/>
                </a:solidFill>
                <a:latin typeface="Microsoft YaHei"/>
              </a:rPr>
              <a:t>지역 주민의 직접적인 참여를 통한 협력적 안전 관리 체계 구축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81150" y="3820917"/>
            <a:ext cx="3795207" cy="4125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39" b="1" i="0">
                <a:solidFill>
                  <a:srgbClr val="411B38"/>
                </a:solidFill>
                <a:latin typeface="Microsoft YaHei"/>
              </a:rPr>
              <a:t>확장 가능한 아키텍처</a:t>
            </a:r>
            <a:r>
              <a:rPr sz="1139" b="1" i="0">
                <a:solidFill>
                  <a:srgbClr val="411B38"/>
                </a:solidFill>
                <a:latin typeface="Unbounded"/>
              </a:rPr>
              <a:t>: </a:t>
            </a:r>
            <a:r>
              <a:rPr sz="1139" b="0" i="0">
                <a:solidFill>
                  <a:srgbClr val="411B38"/>
                </a:solidFill>
                <a:latin typeface="Unbounded"/>
              </a:rPr>
              <a:t> </a:t>
            </a:r>
            <a:r>
              <a:rPr sz="1139" b="0" i="0">
                <a:solidFill>
                  <a:srgbClr val="411B38"/>
                </a:solidFill>
                <a:latin typeface="Microsoft YaHei"/>
              </a:rPr>
              <a:t>마이크로서비스 기반으로 전국 단위 확장이 용이한 시스템 설계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36" y="1751663"/>
            <a:ext cx="1793564" cy="2857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99" b="1" i="0">
                <a:solidFill>
                  <a:srgbClr val="411B38"/>
                </a:solidFill>
                <a:latin typeface="Microsoft YaHei"/>
              </a:rPr>
              <a:t>향후 발전 방향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1630" y="2361247"/>
            <a:ext cx="3809643" cy="4125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39" b="1" i="0">
                <a:solidFill>
                  <a:srgbClr val="411B38"/>
                </a:solidFill>
                <a:latin typeface="Unbounded"/>
              </a:rPr>
              <a:t>AI </a:t>
            </a:r>
            <a:r>
              <a:rPr sz="1139" b="1" i="0">
                <a:solidFill>
                  <a:srgbClr val="411B38"/>
                </a:solidFill>
                <a:latin typeface="Microsoft YaHei"/>
              </a:rPr>
              <a:t>예측 모델</a:t>
            </a:r>
            <a:r>
              <a:rPr sz="1139" b="1" i="0">
                <a:solidFill>
                  <a:srgbClr val="411B38"/>
                </a:solidFill>
                <a:latin typeface="Unbounded"/>
              </a:rPr>
              <a:t>: </a:t>
            </a:r>
            <a:r>
              <a:rPr sz="1139" b="0" i="0">
                <a:solidFill>
                  <a:srgbClr val="411B38"/>
                </a:solidFill>
                <a:latin typeface="Unbounded"/>
              </a:rPr>
              <a:t> </a:t>
            </a:r>
            <a:r>
              <a:rPr sz="1139" b="0" i="0">
                <a:solidFill>
                  <a:srgbClr val="411B38"/>
                </a:solidFill>
                <a:latin typeface="Microsoft YaHei"/>
              </a:rPr>
              <a:t>머신러닝을 활용한 사고 예측 및 예방적 안전 관리 시스템 도입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4481" y="3091082"/>
            <a:ext cx="3910249" cy="4125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39" b="1" i="0">
                <a:solidFill>
                  <a:srgbClr val="411B38"/>
                </a:solidFill>
                <a:latin typeface="Microsoft YaHei"/>
              </a:rPr>
              <a:t>모바일 앱 개발</a:t>
            </a:r>
            <a:r>
              <a:rPr sz="1139" b="1" i="0">
                <a:solidFill>
                  <a:srgbClr val="411B38"/>
                </a:solidFill>
                <a:latin typeface="Unbounded"/>
              </a:rPr>
              <a:t>: </a:t>
            </a:r>
            <a:r>
              <a:rPr sz="1139" b="0" i="0">
                <a:solidFill>
                  <a:srgbClr val="411B38"/>
                </a:solidFill>
                <a:latin typeface="Unbounded"/>
              </a:rPr>
              <a:t> </a:t>
            </a:r>
            <a:r>
              <a:rPr sz="1139" b="0" i="0">
                <a:solidFill>
                  <a:srgbClr val="411B38"/>
                </a:solidFill>
                <a:latin typeface="Microsoft YaHei"/>
              </a:rPr>
              <a:t>실시간 위험 알림과 시민 신고 기능을 포함한 네이티브 앱 제공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1630" y="3820917"/>
            <a:ext cx="3835985" cy="4125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39" b="1" i="0">
                <a:solidFill>
                  <a:srgbClr val="411B38"/>
                </a:solidFill>
                <a:latin typeface="Microsoft YaHei"/>
              </a:rPr>
              <a:t>공공기관 연계</a:t>
            </a:r>
            <a:r>
              <a:rPr sz="1139" b="1" i="0">
                <a:solidFill>
                  <a:srgbClr val="411B38"/>
                </a:solidFill>
                <a:latin typeface="Unbounded"/>
              </a:rPr>
              <a:t>: </a:t>
            </a:r>
            <a:r>
              <a:rPr sz="1139" b="0" i="0">
                <a:solidFill>
                  <a:srgbClr val="411B38"/>
                </a:solidFill>
                <a:latin typeface="Unbounded"/>
              </a:rPr>
              <a:t> </a:t>
            </a:r>
            <a:r>
              <a:rPr sz="1139" b="0" i="0">
                <a:solidFill>
                  <a:srgbClr val="411B38"/>
                </a:solidFill>
                <a:latin typeface="Microsoft YaHei"/>
              </a:rPr>
              <a:t>지자체 및 경찰청과의 데이터 연동을 통한 실질적 정책 반영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2913" y="5284159"/>
            <a:ext cx="2983029" cy="238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99" b="1" i="0">
                <a:solidFill>
                  <a:srgbClr val="411B38"/>
                </a:solidFill>
                <a:latin typeface="Unbounded"/>
              </a:rPr>
              <a:t>KDT 03</a:t>
            </a:r>
            <a:r>
              <a:rPr sz="1499" b="1" i="0">
                <a:solidFill>
                  <a:srgbClr val="411B38"/>
                </a:solidFill>
                <a:latin typeface="Microsoft YaHei"/>
              </a:rPr>
              <a:t>기 미니 프로젝트 성취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25857" y="5731823"/>
            <a:ext cx="7135422" cy="1809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39" b="0" i="0">
                <a:solidFill>
                  <a:srgbClr val="411B38"/>
                </a:solidFill>
                <a:latin typeface="Microsoft YaHei"/>
              </a:rPr>
              <a:t>실무적 데이터 플랫폼 구현을 통해 사회적 가치 창출과 기술적 역량 향상을 동시에 달성한 의미 있는 프로젝트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701</Words>
  <Application>Microsoft Office PowerPoint</Application>
  <PresentationFormat>와이드스크린</PresentationFormat>
  <Paragraphs>63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Calibri</vt:lpstr>
      <vt:lpstr>Microsoft YaHei</vt:lpstr>
      <vt:lpstr>Unbounded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user</cp:lastModifiedBy>
  <cp:revision>4</cp:revision>
  <dcterms:created xsi:type="dcterms:W3CDTF">2013-01-27T09:14:16Z</dcterms:created>
  <dcterms:modified xsi:type="dcterms:W3CDTF">2026-01-19T02:16:12Z</dcterms:modified>
  <cp:category/>
</cp:coreProperties>
</file>