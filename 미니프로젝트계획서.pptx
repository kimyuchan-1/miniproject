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6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3" r:id="rId9"/>
    <p:sldId id="262" r:id="rId10"/>
    <p:sldId id="274" r:id="rId11"/>
    <p:sldId id="271" r:id="rId12"/>
    <p:sldId id="272" r:id="rId13"/>
    <p:sldId id="273" r:id="rId14"/>
    <p:sldId id="275" r:id="rId15"/>
    <p:sldId id="276" r:id="rId16"/>
    <p:sldId id="277" r:id="rId17"/>
    <p:sldId id="278" r:id="rId18"/>
    <p:sldId id="264" r:id="rId19"/>
    <p:sldId id="265" r:id="rId20"/>
    <p:sldId id="291" r:id="rId21"/>
    <p:sldId id="292" r:id="rId22"/>
    <p:sldId id="266" r:id="rId23"/>
    <p:sldId id="293" r:id="rId24"/>
    <p:sldId id="294" r:id="rId25"/>
    <p:sldId id="295" r:id="rId26"/>
    <p:sldId id="296" r:id="rId27"/>
    <p:sldId id="297" r:id="rId28"/>
    <p:sldId id="298" r:id="rId29"/>
    <p:sldId id="299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09" r:id="rId40"/>
    <p:sldId id="310" r:id="rId41"/>
    <p:sldId id="311" r:id="rId42"/>
    <p:sldId id="312" r:id="rId43"/>
    <p:sldId id="313" r:id="rId44"/>
    <p:sldId id="314" r:id="rId45"/>
    <p:sldId id="315" r:id="rId46"/>
    <p:sldId id="316" r:id="rId47"/>
    <p:sldId id="317" r:id="rId48"/>
    <p:sldId id="318" r:id="rId49"/>
    <p:sldId id="319" r:id="rId50"/>
    <p:sldId id="267" r:id="rId51"/>
    <p:sldId id="268" r:id="rId52"/>
    <p:sldId id="269" r:id="rId53"/>
    <p:sldId id="279" r:id="rId54"/>
    <p:sldId id="280" r:id="rId55"/>
    <p:sldId id="281" r:id="rId56"/>
    <p:sldId id="282" r:id="rId57"/>
    <p:sldId id="283" r:id="rId58"/>
    <p:sldId id="284" r:id="rId59"/>
    <p:sldId id="285" r:id="rId60"/>
    <p:sldId id="286" r:id="rId61"/>
    <p:sldId id="287" r:id="rId62"/>
    <p:sldId id="288" r:id="rId63"/>
    <p:sldId id="289" r:id="rId64"/>
    <p:sldId id="290" r:id="rId6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7" roundtripDataSignature="AMtx7miDCxK2ZXgnnNZVs5wxL2S5y01F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494380D-7AE9-4E8F-AD6B-7CFE7C23461D}">
  <a:tblStyle styleId="{8494380D-7AE9-4E8F-AD6B-7CFE7C2346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5CC03B4-4BE6-418C-813A-44F4487CB819}" styleName="Table_1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0D893A1-113A-440A-A9E9-711A06FFD2ED}" styleName="Table_2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254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8EBF5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/>
        <a:fill>
          <a:solidFill>
            <a:srgbClr val="E8EBF5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F6791DC-5017-4400-B032-68944D555E09}" styleName="Table_3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278" autoAdjust="0"/>
  </p:normalViewPr>
  <p:slideViewPr>
    <p:cSldViewPr snapToGrid="0">
      <p:cViewPr>
        <p:scale>
          <a:sx n="66" d="100"/>
          <a:sy n="66" d="100"/>
        </p:scale>
        <p:origin x="2274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7048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384835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9735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00503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360014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5245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91083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4762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94709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875416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901644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06841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805164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0169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851379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0537147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96250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40766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9367713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671411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441480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845024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716192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3559074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06405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824858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7335464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2002759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724419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6097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62037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6468758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909461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356234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757396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715180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0695451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8034850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782638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7925078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45627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76163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50469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007794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785417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82020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482029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2557101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284307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5553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>
  <p:cSld name="빈화면+상세설명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Google Shape;34;p18"/>
          <p:cNvGraphicFramePr/>
          <p:nvPr/>
        </p:nvGraphicFramePr>
        <p:xfrm>
          <a:off x="8956086" y="393703"/>
          <a:ext cx="3117375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" name="Google Shape;35;p18"/>
          <p:cNvGraphicFramePr/>
          <p:nvPr/>
        </p:nvGraphicFramePr>
        <p:xfrm>
          <a:off x="93140" y="393705"/>
          <a:ext cx="8799100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879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 marT="45725" marB="457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6" name="Google Shape;36;p18"/>
          <p:cNvGraphicFramePr/>
          <p:nvPr/>
        </p:nvGraphicFramePr>
        <p:xfrm>
          <a:off x="95025" y="71427"/>
          <a:ext cx="879722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22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작업명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" name="Google Shape;37;p18"/>
          <p:cNvGraphicFramePr/>
          <p:nvPr/>
        </p:nvGraphicFramePr>
        <p:xfrm>
          <a:off x="8956114" y="63502"/>
          <a:ext cx="311737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55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8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화면ID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Malgun Gothic"/>
              <a:buNone/>
            </a:pPr>
            <a:r>
              <a:rPr lang="en-US" sz="5400" dirty="0" err="1"/>
              <a:t>횡단보도</a:t>
            </a:r>
            <a:r>
              <a:rPr lang="en-US" sz="5400" dirty="0"/>
              <a:t>, </a:t>
            </a:r>
            <a:r>
              <a:rPr lang="en-US" sz="5400" dirty="0" err="1"/>
              <a:t>신호등</a:t>
            </a:r>
            <a:r>
              <a:rPr lang="en-US" sz="5400" dirty="0"/>
              <a:t> </a:t>
            </a:r>
            <a:r>
              <a:rPr lang="en-US" sz="5400" dirty="0" err="1"/>
              <a:t>설치</a:t>
            </a:r>
            <a:r>
              <a:rPr lang="en-US" sz="5400" dirty="0"/>
              <a:t> </a:t>
            </a:r>
            <a:r>
              <a:rPr lang="en-US" sz="5400" dirty="0" err="1"/>
              <a:t>현황</a:t>
            </a:r>
            <a:r>
              <a:rPr lang="en-US" sz="5400" dirty="0"/>
              <a:t> 및 </a:t>
            </a:r>
            <a:r>
              <a:rPr lang="en-US" sz="5400" dirty="0" err="1"/>
              <a:t>보행</a:t>
            </a:r>
            <a:r>
              <a:rPr lang="en-US" sz="5400" dirty="0"/>
              <a:t> </a:t>
            </a:r>
            <a:r>
              <a:rPr lang="en-US" sz="5400" dirty="0" err="1"/>
              <a:t>안전</a:t>
            </a:r>
            <a:r>
              <a:rPr lang="en-US" sz="5400" dirty="0"/>
              <a:t> </a:t>
            </a:r>
            <a:r>
              <a:rPr lang="en-US" sz="5400" dirty="0" err="1"/>
              <a:t>대시보드</a:t>
            </a:r>
            <a:endParaRPr dirty="0"/>
          </a:p>
        </p:txBody>
      </p:sp>
      <p:sp>
        <p:nvSpPr>
          <p:cNvPr id="48" name="Google Shape;48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BE : 황성훈</a:t>
            </a:r>
            <a:endParaRPr/>
          </a:p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FE : 김유찬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dirty="0" err="1"/>
              <a:t>활용</a:t>
            </a:r>
            <a:r>
              <a:rPr lang="en-US" dirty="0"/>
              <a:t> </a:t>
            </a:r>
            <a:r>
              <a:rPr lang="en-US" dirty="0" err="1"/>
              <a:t>데이터</a:t>
            </a:r>
            <a:endParaRPr dirty="0"/>
          </a:p>
        </p:txBody>
      </p:sp>
      <p:sp>
        <p:nvSpPr>
          <p:cNvPr id="54" name="Google Shape;54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출처</a:t>
            </a:r>
            <a:r>
              <a:rPr lang="en-US" dirty="0"/>
              <a:t> : </a:t>
            </a:r>
            <a:r>
              <a:rPr lang="en-US" dirty="0" err="1"/>
              <a:t>공공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포털</a:t>
            </a:r>
            <a:r>
              <a:rPr lang="en-US" dirty="0"/>
              <a:t>, </a:t>
            </a:r>
            <a:r>
              <a:rPr lang="en-US" dirty="0" err="1"/>
              <a:t>한국도로교통공단</a:t>
            </a:r>
            <a:r>
              <a:rPr lang="en-US" dirty="0"/>
              <a:t> </a:t>
            </a:r>
            <a:r>
              <a:rPr lang="en-US" dirty="0" err="1"/>
              <a:t>교통사고분석시스템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내용</a:t>
            </a:r>
            <a:r>
              <a:rPr lang="en-US" dirty="0"/>
              <a:t> : </a:t>
            </a:r>
            <a:r>
              <a:rPr lang="en-US" dirty="0" err="1"/>
              <a:t>전국</a:t>
            </a:r>
            <a:r>
              <a:rPr lang="en-US" dirty="0"/>
              <a:t> </a:t>
            </a:r>
            <a:r>
              <a:rPr lang="en-US" dirty="0" err="1"/>
              <a:t>횡단보도</a:t>
            </a:r>
            <a:r>
              <a:rPr lang="en-US" dirty="0"/>
              <a:t>, </a:t>
            </a:r>
            <a:r>
              <a:rPr lang="en-US" dirty="0" err="1"/>
              <a:t>신호등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및 </a:t>
            </a:r>
            <a:r>
              <a:rPr lang="en-US" dirty="0" err="1"/>
              <a:t>법정동코드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다발</a:t>
            </a:r>
            <a:r>
              <a:rPr lang="en-US" dirty="0"/>
              <a:t> </a:t>
            </a:r>
            <a:r>
              <a:rPr lang="en-US" dirty="0" err="1"/>
              <a:t>지역</a:t>
            </a:r>
            <a:r>
              <a:rPr lang="en-US" dirty="0"/>
              <a:t> </a:t>
            </a:r>
            <a:r>
              <a:rPr lang="en-US" dirty="0" err="1"/>
              <a:t>데이터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주요</a:t>
            </a:r>
            <a:r>
              <a:rPr lang="en-US" dirty="0"/>
              <a:t> </a:t>
            </a:r>
            <a:r>
              <a:rPr lang="en-US" dirty="0" err="1"/>
              <a:t>컨텐츠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전국횡단보도표준데이터</a:t>
            </a:r>
            <a:r>
              <a:rPr lang="en-US" dirty="0"/>
              <a:t> 및 </a:t>
            </a:r>
            <a:r>
              <a:rPr lang="en-US" dirty="0" err="1"/>
              <a:t>전국신호등표준데이터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시도</a:t>
            </a:r>
            <a:r>
              <a:rPr lang="en-US" dirty="0"/>
              <a:t> </a:t>
            </a:r>
            <a:r>
              <a:rPr lang="en-US" dirty="0" err="1"/>
              <a:t>시군구별</a:t>
            </a:r>
            <a:r>
              <a:rPr lang="en-US" dirty="0"/>
              <a:t> </a:t>
            </a:r>
            <a:r>
              <a:rPr lang="en-US" dirty="0" err="1"/>
              <a:t>월별</a:t>
            </a:r>
            <a:r>
              <a:rPr lang="en-US" dirty="0"/>
              <a:t>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r>
              <a:rPr lang="en-US" dirty="0"/>
              <a:t> </a:t>
            </a:r>
            <a:r>
              <a:rPr lang="en-US" dirty="0" err="1"/>
              <a:t>다발지역</a:t>
            </a:r>
            <a:r>
              <a:rPr lang="en-US" dirty="0"/>
              <a:t> </a:t>
            </a:r>
            <a:r>
              <a:rPr lang="en-US" dirty="0" err="1"/>
              <a:t>정보</a:t>
            </a:r>
            <a:endParaRPr dirty="0"/>
          </a:p>
          <a:p>
            <a:pPr marL="685800" lvl="1" indent="-8763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기능 정의</a:t>
            </a:r>
            <a:endParaRPr/>
          </a:p>
        </p:txBody>
      </p:sp>
      <p:sp>
        <p:nvSpPr>
          <p:cNvPr id="60" name="Google Shape;60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dirty="0" err="1"/>
              <a:t>로그인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dirty="0" err="1"/>
              <a:t>건의게시판</a:t>
            </a:r>
            <a:r>
              <a:rPr lang="en-US" dirty="0"/>
              <a:t> </a:t>
            </a:r>
            <a:r>
              <a:rPr lang="en-US" dirty="0" err="1"/>
              <a:t>기능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dirty="0" err="1"/>
              <a:t>교통사고</a:t>
            </a:r>
            <a:r>
              <a:rPr lang="en-US" dirty="0"/>
              <a:t> </a:t>
            </a:r>
            <a:r>
              <a:rPr lang="en-US" dirty="0" err="1"/>
              <a:t>건수에</a:t>
            </a:r>
            <a:r>
              <a:rPr lang="en-US" dirty="0"/>
              <a:t> </a:t>
            </a:r>
            <a:r>
              <a:rPr lang="en-US" dirty="0" err="1"/>
              <a:t>따라</a:t>
            </a:r>
            <a:r>
              <a:rPr lang="en-US" dirty="0"/>
              <a:t> </a:t>
            </a:r>
            <a:r>
              <a:rPr lang="en-US" dirty="0" err="1"/>
              <a:t>히트맵</a:t>
            </a:r>
            <a:r>
              <a:rPr lang="en-US" dirty="0"/>
              <a:t> </a:t>
            </a:r>
            <a:r>
              <a:rPr lang="en-US" dirty="0" err="1"/>
              <a:t>지도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dirty="0" err="1"/>
              <a:t>시도</a:t>
            </a:r>
            <a:r>
              <a:rPr lang="en-US" dirty="0"/>
              <a:t>, </a:t>
            </a:r>
            <a:r>
              <a:rPr lang="en-US" dirty="0" err="1"/>
              <a:t>시군구별</a:t>
            </a:r>
            <a:r>
              <a:rPr lang="en-US" dirty="0"/>
              <a:t> </a:t>
            </a:r>
            <a:r>
              <a:rPr lang="en-US" dirty="0" err="1"/>
              <a:t>월별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r>
              <a:rPr lang="en-US" dirty="0"/>
              <a:t> </a:t>
            </a:r>
            <a:r>
              <a:rPr lang="en-US" dirty="0" err="1"/>
              <a:t>그래프</a:t>
            </a:r>
            <a:endParaRPr dirty="0"/>
          </a:p>
          <a:p>
            <a:pPr marL="228600" lvl="0" indent="-1651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dirty="0" err="1"/>
              <a:t>횡반보도</a:t>
            </a:r>
            <a:r>
              <a:rPr lang="en-US" dirty="0"/>
              <a:t> </a:t>
            </a:r>
            <a:r>
              <a:rPr lang="en-US" dirty="0" err="1"/>
              <a:t>신호등</a:t>
            </a:r>
            <a:r>
              <a:rPr lang="en-US" dirty="0"/>
              <a:t> </a:t>
            </a:r>
            <a:r>
              <a:rPr lang="en-US" dirty="0" err="1"/>
              <a:t>설치율</a:t>
            </a:r>
            <a:r>
              <a:rPr lang="en-US" dirty="0"/>
              <a:t>,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감소율</a:t>
            </a:r>
            <a:r>
              <a:rPr lang="en-US" dirty="0"/>
              <a:t>, </a:t>
            </a:r>
            <a:r>
              <a:rPr lang="en-US" dirty="0" err="1"/>
              <a:t>안전</a:t>
            </a:r>
            <a:r>
              <a:rPr lang="en-US" dirty="0"/>
              <a:t> </a:t>
            </a:r>
            <a:r>
              <a:rPr lang="en-US" dirty="0" err="1"/>
              <a:t>지수</a:t>
            </a:r>
            <a:r>
              <a:rPr lang="en-US" dirty="0"/>
              <a:t> KPI 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시스템 구성</a:t>
            </a:r>
            <a:endParaRPr/>
          </a:p>
        </p:txBody>
      </p:sp>
      <p:pic>
        <p:nvPicPr>
          <p:cNvPr id="66" name="Google Shape;66;p4" title="system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600" y="1836450"/>
            <a:ext cx="11267326" cy="442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화면 설계서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88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/ : </a:t>
            </a:r>
            <a:r>
              <a:rPr lang="ko-KR" altLang="en-US" sz="1000" dirty="0"/>
              <a:t>홈 화면</a:t>
            </a:r>
            <a:endParaRPr dirty="0"/>
          </a:p>
        </p:txBody>
      </p:sp>
      <p:graphicFrame>
        <p:nvGraphicFramePr>
          <p:cNvPr id="77" name="Google Shape;77;p6"/>
          <p:cNvGraphicFramePr/>
          <p:nvPr>
            <p:extLst>
              <p:ext uri="{D42A27DB-BD31-4B8C-83A1-F6EECF244321}">
                <p14:modId xmlns:p14="http://schemas.microsoft.com/office/powerpoint/2010/main" val="4183555305"/>
              </p:ext>
            </p:extLst>
          </p:nvPr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프로젝트 제목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목적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주요 기능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기술 스택 디스플레이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여부에 따른 헤더 변경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홈페이지 이동에 따른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Rest API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PedSafe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 바로가기 버튼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회원가입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건의 게시판 클릭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항목에 대응하는 주소로 이동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8" name="Google Shape;78;p6"/>
          <p:cNvSpPr txBox="1"/>
          <p:nvPr/>
        </p:nvSpPr>
        <p:spPr>
          <a:xfrm>
            <a:off x="5770804" y="70517"/>
            <a:ext cx="3098876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ko-KR" alt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홈</a:t>
            </a:r>
            <a:endParaRPr dirty="0"/>
          </a:p>
        </p:txBody>
      </p:sp>
      <p:sp>
        <p:nvSpPr>
          <p:cNvPr id="79" name="Google Shape;79;p6"/>
          <p:cNvSpPr txBox="1"/>
          <p:nvPr/>
        </p:nvSpPr>
        <p:spPr>
          <a:xfrm>
            <a:off x="10523913" y="70517"/>
            <a:ext cx="1540811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ID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Signup : </a:t>
            </a:r>
            <a:r>
              <a:rPr lang="en-US" sz="1000" dirty="0" err="1"/>
              <a:t>회원가입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4258952537"/>
              </p:ext>
            </p:extLst>
          </p:nvPr>
        </p:nvGraphicFramePr>
        <p:xfrm>
          <a:off x="8962892" y="405819"/>
          <a:ext cx="3101850" cy="423702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 이용을 위한 회원 가입 </a:t>
                      </a: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 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사용자명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영문+숫자@영문+숫자.영문+숫자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영문,숫자,특수문자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포함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없음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8~20자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저장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이미 존재하는 회원정보의 경우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경고 알림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861395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확인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7229699-EB82-47C7-80F0-75773F6F9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524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 err="1"/>
              <a:t>Signin</a:t>
            </a:r>
            <a:r>
              <a:rPr lang="en-US" sz="1000" dirty="0"/>
              <a:t> : </a:t>
            </a:r>
            <a:r>
              <a:rPr lang="ko-KR" altLang="en-US" sz="1000" dirty="0"/>
              <a:t>로그인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534180901"/>
              </p:ext>
            </p:extLst>
          </p:nvPr>
        </p:nvGraphicFramePr>
        <p:xfrm>
          <a:off x="8962892" y="405819"/>
          <a:ext cx="3101850" cy="4025323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이용을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폼 공백 여부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다양한 플랫폼으로 로그인</a:t>
                      </a: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196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 유효한지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로그인할 경우 해당 회원정보 저장</a:t>
                      </a:r>
                      <a:endParaRPr lang="en-US" altLang="ko-KR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provider,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provider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id,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권한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55738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</a:t>
                      </a:r>
                      <a:r>
                        <a:rPr lang="en-US" sz="9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요구사항</a:t>
                      </a:r>
                      <a:endParaRPr sz="900" b="1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sym typeface="Malgun Gothic"/>
                        </a:rPr>
                        <a:t>홈 화면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5C0ADF-3776-4ECC-A34E-45D4F2863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>
            <p:extLst>
              <p:ext uri="{D42A27DB-BD31-4B8C-83A1-F6EECF244321}">
                <p14:modId xmlns:p14="http://schemas.microsoft.com/office/powerpoint/2010/main" val="2253975813"/>
              </p:ext>
            </p:extLst>
          </p:nvPr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 횡단보도 개수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신호등 </a:t>
                      </a:r>
                      <a:r>
                        <a:rPr lang="ko-KR" alt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설치율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안전 지수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위험 지수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50" dirty="0"/>
              <a:t>KPI </a:t>
            </a:r>
            <a:r>
              <a:rPr lang="ko-KR" altLang="en-US" sz="1050" dirty="0"/>
              <a:t>카드</a:t>
            </a:r>
            <a:endParaRPr sz="1050"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ko-KR" altLang="en-US" sz="1050" dirty="0"/>
              <a:t>지역 선택</a:t>
            </a:r>
            <a:endParaRPr sz="1050"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dashboard2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37332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map</a:t>
            </a:r>
            <a:endParaRPr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Dashboard3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1384220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Crosswalk</a:t>
            </a:r>
            <a:r>
              <a:rPr lang="ko-KR" altLang="en-US" sz="1000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 </a:t>
            </a:r>
            <a:r>
              <a:rPr lang="en-US" altLang="ko-KR" sz="1000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detail</a:t>
            </a:r>
            <a:endParaRPr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dashboard4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2408373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55380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962654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5480720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942129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6008315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REST API 명세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명세 목록</a:t>
            </a:r>
            <a:endParaRPr/>
          </a:p>
        </p:txBody>
      </p:sp>
      <p:graphicFrame>
        <p:nvGraphicFramePr>
          <p:cNvPr id="110" name="Google Shape;110;p9"/>
          <p:cNvGraphicFramePr/>
          <p:nvPr>
            <p:extLst>
              <p:ext uri="{D42A27DB-BD31-4B8C-83A1-F6EECF244321}">
                <p14:modId xmlns:p14="http://schemas.microsoft.com/office/powerpoint/2010/main" val="4190288726"/>
              </p:ext>
            </p:extLst>
          </p:nvPr>
        </p:nvGraphicFramePr>
        <p:xfrm>
          <a:off x="1098745" y="1813175"/>
          <a:ext cx="10515625" cy="407935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/auth/login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로그인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인증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2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/auth/register 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회원가입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인증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3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POST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/auth/logout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로그아웃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인증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4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 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/oauth2/authorization/{provider}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OAuth2 </a:t>
                      </a:r>
                      <a:r>
                        <a:rPr lang="ko-KR" altLang="en-US" sz="1200" dirty="0"/>
                        <a:t>로그인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인증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5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/auth/check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인증 상태 확인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인증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6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/me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내 정보 조회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사용자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7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PATCH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/me</a:t>
                      </a: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내 정보 수정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사용자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8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POST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/auth/change-password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비밀번호 변경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사용자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9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/dashboard/</a:t>
                      </a:r>
                      <a:r>
                        <a:rPr lang="en-US" altLang="ko-KR" sz="1200" dirty="0" err="1"/>
                        <a:t>kpi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KPI </a:t>
                      </a:r>
                      <a:r>
                        <a:rPr lang="ko-KR" altLang="en-US" sz="1200" dirty="0"/>
                        <a:t>통계 조회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대시보드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10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/dashboard/provinces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시도 목록 조회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대시보드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명세 목록</a:t>
            </a:r>
            <a:endParaRPr/>
          </a:p>
        </p:txBody>
      </p:sp>
      <p:graphicFrame>
        <p:nvGraphicFramePr>
          <p:cNvPr id="110" name="Google Shape;110;p9"/>
          <p:cNvGraphicFramePr/>
          <p:nvPr>
            <p:extLst>
              <p:ext uri="{D42A27DB-BD31-4B8C-83A1-F6EECF244321}">
                <p14:modId xmlns:p14="http://schemas.microsoft.com/office/powerpoint/2010/main" val="136411275"/>
              </p:ext>
            </p:extLst>
          </p:nvPr>
        </p:nvGraphicFramePr>
        <p:xfrm>
          <a:off x="1098745" y="1813175"/>
          <a:ext cx="10515625" cy="469403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11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/dashboard/</a:t>
                      </a:r>
                      <a:r>
                        <a:rPr lang="en-US" altLang="ko-KR" sz="1200" dirty="0" err="1"/>
                        <a:t>cities?province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서울특별시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 err="1"/>
                        <a:t>시군구</a:t>
                      </a:r>
                      <a:r>
                        <a:rPr lang="ko-KR" altLang="en-US" sz="1200" dirty="0"/>
                        <a:t> 목록 조회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대시보드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12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/map/</a:t>
                      </a:r>
                      <a:r>
                        <a:rPr lang="en-US" altLang="ko-KR" sz="1200" dirty="0" err="1"/>
                        <a:t>crosswalks?bounds</a:t>
                      </a:r>
                      <a:r>
                        <a:rPr lang="en-US" altLang="ko-KR" sz="1200" dirty="0"/>
                        <a:t>=37.5,126.9,37.6,127.0&amp;limit=5000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횡단보도 목록 조회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지도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13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/map/</a:t>
                      </a:r>
                      <a:r>
                        <a:rPr lang="en-US" altLang="ko-KR" sz="1200" dirty="0" err="1"/>
                        <a:t>acc_hotspots?bounds</a:t>
                      </a:r>
                      <a:r>
                        <a:rPr lang="en-US" altLang="ko-KR" sz="1200" dirty="0"/>
                        <a:t>=37.5,126.9,37.6,127.0&amp;limit=5000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사고 다발지역 조회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지도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14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 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pedacc</a:t>
                      </a: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summary?region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서울특별시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사고 통계 요약 조회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보행자 사고 통계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15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suggestions?page</a:t>
                      </a:r>
                      <a:r>
                        <a:rPr lang="en-US" altLang="ko-KR" sz="1200" dirty="0"/>
                        <a:t>=1&amp;size=10&amp;status=</a:t>
                      </a:r>
                      <a:r>
                        <a:rPr lang="en-US" altLang="ko-KR" sz="1200" dirty="0" err="1"/>
                        <a:t>PENDING&amp;type</a:t>
                      </a:r>
                      <a:r>
                        <a:rPr lang="en-US" altLang="ko-KR" sz="1200" dirty="0"/>
                        <a:t>=</a:t>
                      </a:r>
                      <a:r>
                        <a:rPr lang="en-US" altLang="ko-KR" sz="1200" dirty="0" err="1"/>
                        <a:t>SIGNAL_INSTALLATION&amp;region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서울특별시</a:t>
                      </a:r>
                      <a:r>
                        <a:rPr lang="en-US" altLang="ko-KR" sz="1200" dirty="0"/>
                        <a:t>&amp;search=</a:t>
                      </a:r>
                      <a:r>
                        <a:rPr lang="ko-KR" altLang="en-US" sz="1200" dirty="0"/>
                        <a:t>신호등</a:t>
                      </a:r>
                      <a:r>
                        <a:rPr lang="en-US" altLang="ko-KR" sz="1200" dirty="0"/>
                        <a:t>&amp;sort=latest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 목록 조회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16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/suggestions/{id}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 상세 조회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17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POST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</a:t>
                      </a: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 작성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18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PUT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/suggestions/{id}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 수정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19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DELETE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/suggestions/{id}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 삭제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20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</a:t>
                      </a:r>
                      <a:r>
                        <a:rPr lang="en-US" altLang="ko-KR" sz="1200" dirty="0" err="1"/>
                        <a:t>my?page</a:t>
                      </a:r>
                      <a:r>
                        <a:rPr lang="en-US" altLang="ko-KR" sz="1200" dirty="0"/>
                        <a:t>=1&amp;pageSize=10&amp;status=ALL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내 건의사항 목록 조회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97453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명세 목록</a:t>
            </a:r>
            <a:endParaRPr/>
          </a:p>
        </p:txBody>
      </p:sp>
      <p:graphicFrame>
        <p:nvGraphicFramePr>
          <p:cNvPr id="110" name="Google Shape;110;p9"/>
          <p:cNvGraphicFramePr/>
          <p:nvPr>
            <p:extLst>
              <p:ext uri="{D42A27DB-BD31-4B8C-83A1-F6EECF244321}">
                <p14:modId xmlns:p14="http://schemas.microsoft.com/office/powerpoint/2010/main" val="3449721204"/>
              </p:ext>
            </p:extLst>
          </p:nvPr>
        </p:nvGraphicFramePr>
        <p:xfrm>
          <a:off x="1098745" y="1813175"/>
          <a:ext cx="10515625" cy="425207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21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/suggestions/regions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지역 목록 조회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22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/suggestions/{id}/comments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 목록 조회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23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POST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/suggestions/{id}/comments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 작성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24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PUT 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altLang="ko-KR" sz="1200" dirty="0"/>
                        <a:t>/api/suggestions/{suggestionId}/comments/{commentId}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 수정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25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DELETE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altLang="ko-KR" sz="1200" dirty="0"/>
                        <a:t>/api/suggestions/{suggestionId}/comments/{commentId}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 삭제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26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POST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/suggestions/{id}/like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좋아요 </a:t>
                      </a:r>
                      <a:r>
                        <a:rPr lang="ko-KR" altLang="en-US" sz="1200" dirty="0" err="1"/>
                        <a:t>토글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좋아요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27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/district/provinces</a:t>
                      </a: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시도 목록 조회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행정구역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28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/district/</a:t>
                      </a:r>
                      <a:r>
                        <a:rPr lang="en-US" altLang="ko-KR" sz="1200" dirty="0" err="1"/>
                        <a:t>cities?provinceCode</a:t>
                      </a:r>
                      <a:r>
                        <a:rPr lang="en-US" altLang="ko-KR" sz="1200" dirty="0"/>
                        <a:t>=11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 err="1"/>
                        <a:t>시군구</a:t>
                      </a:r>
                      <a:r>
                        <a:rPr lang="ko-KR" altLang="en-US" sz="1200" dirty="0"/>
                        <a:t> 목록 조회</a:t>
                      </a: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행정구역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9883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1304028917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/auth/login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인증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4177290309"/>
              </p:ext>
            </p:extLst>
          </p:nvPr>
        </p:nvGraphicFramePr>
        <p:xfrm>
          <a:off x="1098744" y="2677343"/>
          <a:ext cx="10515600" cy="3860140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Content-Type: application/json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altLang="ko-KR" sz="1200" dirty="0"/>
                        <a:t>{ "email": "user@example.com", "password": "password123"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"success": true, "message": "</a:t>
                      </a:r>
                      <a:r>
                        <a:rPr lang="ko-KR" altLang="en-US" sz="1200" dirty="0"/>
                        <a:t>로그인 성공</a:t>
                      </a:r>
                      <a:r>
                        <a:rPr lang="en-US" altLang="ko-KR" sz="1200" dirty="0"/>
                        <a:t>", "data": { "id": 1, "email": "user@example.com", "name": "</a:t>
                      </a:r>
                      <a:r>
                        <a:rPr lang="ko-KR" altLang="en-US" sz="1200" dirty="0"/>
                        <a:t>홍길동</a:t>
                      </a:r>
                      <a:r>
                        <a:rPr lang="en-US" altLang="ko-KR" sz="1200" dirty="0"/>
                        <a:t>", "picture": "https://example.com/profile.jpg", "role": "USER", "provider": "LOCAL" }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dirty="0"/>
              <a:t>REST API </a:t>
            </a:r>
            <a:r>
              <a:rPr lang="en-US" dirty="0" err="1"/>
              <a:t>상세</a:t>
            </a:r>
            <a:r>
              <a:rPr lang="en-US" dirty="0"/>
              <a:t> </a:t>
            </a:r>
            <a:r>
              <a:rPr lang="en-US" dirty="0" err="1"/>
              <a:t>명세</a:t>
            </a:r>
            <a:endParaRPr dirty="0"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3033523245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/auth/register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회원가입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인증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1962882918"/>
              </p:ext>
            </p:extLst>
          </p:nvPr>
        </p:nvGraphicFramePr>
        <p:xfrm>
          <a:off x="1098744" y="2677343"/>
          <a:ext cx="10515600" cy="3677260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Content-Type: application/json</a:t>
                      </a:r>
                      <a:endParaRPr lang="en-US" altLang="ko-KR"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"email": "user@example.com", "password": "password123", "name": "</a:t>
                      </a:r>
                      <a:r>
                        <a:rPr lang="ko-KR" altLang="en-US" sz="1200" dirty="0"/>
                        <a:t>홍길동</a:t>
                      </a:r>
                      <a:r>
                        <a:rPr lang="en-US" altLang="ko-KR" sz="1200" dirty="0"/>
                        <a:t>"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99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"success": true, "message": "</a:t>
                      </a:r>
                      <a:r>
                        <a:rPr lang="ko-KR" altLang="en-US" sz="1200" dirty="0"/>
                        <a:t>회원가입 성공</a:t>
                      </a:r>
                      <a:r>
                        <a:rPr lang="en-US" altLang="ko-KR" sz="1200" dirty="0"/>
                        <a:t>", "data": { "id": 1, "email": "user@example.com", "name": "</a:t>
                      </a:r>
                      <a:r>
                        <a:rPr lang="ko-KR" altLang="en-US" sz="1200" dirty="0"/>
                        <a:t>홍길동</a:t>
                      </a:r>
                      <a:r>
                        <a:rPr lang="en-US" altLang="ko-KR" sz="1200" dirty="0"/>
                        <a:t>", "role": "USER" }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8181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449644491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3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/auth/logout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로그</a:t>
                      </a:r>
                      <a:r>
                        <a:rPr lang="ko-KR" altLang="en-US" sz="1200" dirty="0"/>
                        <a:t>아웃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인증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1447703468"/>
              </p:ext>
            </p:extLst>
          </p:nvPr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Cookie: </a:t>
                      </a:r>
                      <a:r>
                        <a:rPr lang="en-US" altLang="ko-KR" sz="1200" dirty="0" err="1"/>
                        <a:t>accessToken</a:t>
                      </a:r>
                      <a:r>
                        <a:rPr lang="en-US" altLang="ko-KR" sz="1200" dirty="0"/>
                        <a:t>=...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"success": true, "message": "</a:t>
                      </a:r>
                      <a:r>
                        <a:rPr lang="ko-KR" altLang="en-US" sz="1200" dirty="0"/>
                        <a:t>로그아웃 성공</a:t>
                      </a:r>
                      <a:r>
                        <a:rPr lang="en-US" altLang="ko-KR" sz="1200" dirty="0"/>
                        <a:t>", "data": null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15774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2218777840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4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/oauth2/authorization/{provider}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OAuth2 </a:t>
                      </a:r>
                      <a:r>
                        <a:rPr lang="en-US" sz="1200" dirty="0" err="1"/>
                        <a:t>로그인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인증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2870091438"/>
              </p:ext>
            </p:extLst>
          </p:nvPr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Providers: google, </a:t>
                      </a:r>
                      <a:r>
                        <a:rPr lang="en-US" altLang="ko-KR" sz="1200" dirty="0" err="1"/>
                        <a:t>naver</a:t>
                      </a:r>
                      <a:r>
                        <a:rPr lang="en-US" altLang="ko-KR" sz="1200" dirty="0"/>
                        <a:t>, </a:t>
                      </a:r>
                      <a:r>
                        <a:rPr lang="en-US" altLang="ko-KR" sz="1200" dirty="0" err="1"/>
                        <a:t>github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dirty="0"/>
                        <a:t>Response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Redirect to OAuth2 provider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7827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1371543257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5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/auth/check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인증 상태 확인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인증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1947912181"/>
              </p:ext>
            </p:extLst>
          </p:nvPr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Cookie: </a:t>
                      </a:r>
                      <a:r>
                        <a:rPr lang="en-US" altLang="ko-KR" sz="1200" dirty="0" err="1"/>
                        <a:t>accessToken</a:t>
                      </a:r>
                      <a:r>
                        <a:rPr lang="en-US" altLang="ko-KR" sz="1200" dirty="0"/>
                        <a:t>=...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"success": true, "message": "</a:t>
                      </a:r>
                      <a:r>
                        <a:rPr lang="ko-KR" altLang="en-US" sz="1200" dirty="0"/>
                        <a:t>인증 상태 확인</a:t>
                      </a:r>
                      <a:r>
                        <a:rPr lang="en-US" altLang="ko-KR" sz="1200" dirty="0"/>
                        <a:t>", "data": true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70953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490793373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6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 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/me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내 정보 조회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사용자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2259169846"/>
              </p:ext>
            </p:extLst>
          </p:nvPr>
        </p:nvGraphicFramePr>
        <p:xfrm>
          <a:off x="1098744" y="2677343"/>
          <a:ext cx="10515600" cy="3860140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Cookie: </a:t>
                      </a:r>
                      <a:r>
                        <a:rPr lang="en-US" altLang="ko-KR" sz="1200" dirty="0" err="1"/>
                        <a:t>accessToken</a:t>
                      </a:r>
                      <a:r>
                        <a:rPr lang="en-US" altLang="ko-KR" sz="1200" dirty="0"/>
                        <a:t>=...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"success": true, "message": "</a:t>
                      </a:r>
                      <a:r>
                        <a:rPr lang="ko-KR" altLang="en-US" sz="1200" dirty="0"/>
                        <a:t>사용자 정보 조회 성공</a:t>
                      </a:r>
                      <a:r>
                        <a:rPr lang="en-US" altLang="ko-KR" sz="1200" dirty="0"/>
                        <a:t>", "data": { "id": 1, "email": "user@example.com", "name": "</a:t>
                      </a:r>
                      <a:r>
                        <a:rPr lang="ko-KR" altLang="en-US" sz="1200" dirty="0"/>
                        <a:t>홍길동</a:t>
                      </a:r>
                      <a:r>
                        <a:rPr lang="en-US" altLang="ko-KR" sz="1200" dirty="0"/>
                        <a:t>", "picture": "https://example.com/profile.jpg", "role": "USER", "provider": "LOCAL" }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07484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326192893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7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PATCH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/me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내 정보 수정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사용자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1574012134"/>
              </p:ext>
            </p:extLst>
          </p:nvPr>
        </p:nvGraphicFramePr>
        <p:xfrm>
          <a:off x="1098744" y="2677343"/>
          <a:ext cx="10515600" cy="396355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Cookie: </a:t>
                      </a:r>
                      <a:r>
                        <a:rPr lang="en-US" altLang="ko-KR" sz="1200" dirty="0" err="1"/>
                        <a:t>accessToken</a:t>
                      </a:r>
                      <a:r>
                        <a:rPr lang="en-US" altLang="ko-KR" sz="1200" dirty="0"/>
                        <a:t>=...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Content-Type: application/json }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"name": "</a:t>
                      </a:r>
                      <a:r>
                        <a:rPr lang="ko-KR" altLang="en-US" sz="1200" dirty="0"/>
                        <a:t>김철수</a:t>
                      </a:r>
                      <a:r>
                        <a:rPr lang="en-US" altLang="ko-KR" sz="1200" dirty="0"/>
                        <a:t>"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"success": true, "message": "</a:t>
                      </a:r>
                      <a:r>
                        <a:rPr lang="ko-KR" altLang="en-US" sz="1200" dirty="0" err="1"/>
                        <a:t>회원명</a:t>
                      </a:r>
                      <a:r>
                        <a:rPr lang="ko-KR" altLang="en-US" sz="1200" dirty="0"/>
                        <a:t> 수정 성공</a:t>
                      </a:r>
                      <a:r>
                        <a:rPr lang="en-US" altLang="ko-KR" sz="1200" dirty="0"/>
                        <a:t>", "data": { "id": 1, "email": "user@example.com", "name": "</a:t>
                      </a:r>
                      <a:r>
                        <a:rPr lang="ko-KR" altLang="en-US" sz="1200" dirty="0"/>
                        <a:t>김철수</a:t>
                      </a:r>
                      <a:r>
                        <a:rPr lang="en-US" altLang="ko-KR" sz="1200" dirty="0"/>
                        <a:t>", "picture": "https://example.com/profile.jpg", "role": "USER" }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96020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2168611847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8</a:t>
                      </a: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/auth/change-password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비밀번호 변경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사용자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3641718224"/>
              </p:ext>
            </p:extLst>
          </p:nvPr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dirty="0" err="1"/>
                        <a:t>내용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dirty="0"/>
                        <a:t>{</a:t>
                      </a:r>
                      <a:r>
                        <a:rPr lang="en-US" altLang="ko-KR" sz="1200" dirty="0"/>
                        <a:t>Cookie: </a:t>
                      </a:r>
                      <a:r>
                        <a:rPr lang="en-US" altLang="ko-KR" sz="1200" dirty="0" err="1"/>
                        <a:t>accessToken</a:t>
                      </a:r>
                      <a:r>
                        <a:rPr lang="en-US" altLang="ko-KR" sz="1200" dirty="0"/>
                        <a:t>=... Content-Type: application/json</a:t>
                      </a:r>
                      <a:r>
                        <a:rPr lang="en-US" sz="1200" b="0" dirty="0"/>
                        <a:t>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</a:t>
                      </a:r>
                      <a:r>
                        <a:rPr lang="en-US" altLang="ko-KR" sz="1200" dirty="0" err="1"/>
                        <a:t>currentPassword</a:t>
                      </a:r>
                      <a:r>
                        <a:rPr lang="en-US" altLang="ko-KR" sz="1200" dirty="0"/>
                        <a:t>": "oldPassword123", "</a:t>
                      </a:r>
                      <a:r>
                        <a:rPr lang="en-US" altLang="ko-KR" sz="1200" dirty="0" err="1"/>
                        <a:t>newPassword</a:t>
                      </a:r>
                      <a:r>
                        <a:rPr lang="en-US" altLang="ko-KR" sz="1200" dirty="0"/>
                        <a:t>": "newPassword456"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"success": true, "message": "</a:t>
                      </a:r>
                      <a:r>
                        <a:rPr lang="ko-KR" altLang="en-US" sz="1200" dirty="0"/>
                        <a:t>비밀번호 변경 성공</a:t>
                      </a:r>
                      <a:r>
                        <a:rPr lang="en-US" altLang="ko-KR" sz="1200" dirty="0"/>
                        <a:t>", "data": null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25223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3622203820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9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/dashboard/</a:t>
                      </a:r>
                      <a:r>
                        <a:rPr lang="en-US" altLang="ko-KR" sz="1200" dirty="0" err="1"/>
                        <a:t>kpi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KPI </a:t>
                      </a:r>
                      <a:r>
                        <a:rPr lang="ko-KR" altLang="en-US" sz="1200" dirty="0"/>
                        <a:t>통계 조회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대시보드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1806483439"/>
              </p:ext>
            </p:extLst>
          </p:nvPr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</a:t>
                      </a:r>
                      <a:r>
                        <a:rPr lang="en-US" altLang="ko-KR" sz="1200" dirty="0" err="1"/>
                        <a:t>totalCrosswalks</a:t>
                      </a:r>
                      <a:r>
                        <a:rPr lang="en-US" altLang="ko-KR" sz="1200" dirty="0"/>
                        <a:t>": 50000, "</a:t>
                      </a:r>
                      <a:r>
                        <a:rPr lang="en-US" altLang="ko-KR" sz="1200" dirty="0" err="1"/>
                        <a:t>crosswalksWithSignals</a:t>
                      </a:r>
                      <a:r>
                        <a:rPr lang="en-US" altLang="ko-KR" sz="1200" dirty="0"/>
                        <a:t>": 35000, "</a:t>
                      </a:r>
                      <a:r>
                        <a:rPr lang="en-US" altLang="ko-KR" sz="1200" dirty="0" err="1"/>
                        <a:t>signalInstallationRate</a:t>
                      </a:r>
                      <a:r>
                        <a:rPr lang="en-US" altLang="ko-KR" sz="1200" dirty="0"/>
                        <a:t>": 70.0, "</a:t>
                      </a:r>
                      <a:r>
                        <a:rPr lang="en-US" altLang="ko-KR" sz="1200" dirty="0" err="1"/>
                        <a:t>totalAccidents</a:t>
                      </a:r>
                      <a:r>
                        <a:rPr lang="en-US" altLang="ko-KR" sz="1200" dirty="0"/>
                        <a:t>": 12000, "</a:t>
                      </a:r>
                      <a:r>
                        <a:rPr lang="en-US" altLang="ko-KR" sz="1200" dirty="0" err="1"/>
                        <a:t>averageSafetyScore</a:t>
                      </a:r>
                      <a:r>
                        <a:rPr lang="en-US" altLang="ko-KR" sz="1200" dirty="0"/>
                        <a:t>": 65.5, "</a:t>
                      </a:r>
                      <a:r>
                        <a:rPr lang="en-US" altLang="ko-KR" sz="1200" dirty="0" err="1"/>
                        <a:t>averageRiskScore</a:t>
                      </a:r>
                      <a:r>
                        <a:rPr lang="en-US" altLang="ko-KR" sz="1200" dirty="0"/>
                        <a:t>": 45.2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8534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1534521317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10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/dashboard/provinces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시도 목록 조회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대시보드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3670006124"/>
              </p:ext>
            </p:extLst>
          </p:nvPr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[ { "code": "11", "name": "</a:t>
                      </a:r>
                      <a:r>
                        <a:rPr lang="ko-KR" altLang="en-US" sz="1200" dirty="0"/>
                        <a:t>서울특별시</a:t>
                      </a:r>
                      <a:r>
                        <a:rPr lang="en-US" altLang="ko-KR" sz="1200" dirty="0"/>
                        <a:t>" }, { "code": "26", "name": "</a:t>
                      </a:r>
                      <a:r>
                        <a:rPr lang="ko-KR" altLang="en-US" sz="1200" dirty="0"/>
                        <a:t>부산광역시</a:t>
                      </a:r>
                      <a:r>
                        <a:rPr lang="en-US" altLang="ko-KR" sz="1200" dirty="0"/>
                        <a:t>" } ]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3409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1805673690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11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/dashboard/</a:t>
                      </a:r>
                      <a:r>
                        <a:rPr lang="en-US" altLang="ko-KR" sz="1200" dirty="0" err="1"/>
                        <a:t>cities?province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서울특별시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 err="1"/>
                        <a:t>시군구</a:t>
                      </a:r>
                      <a:r>
                        <a:rPr lang="ko-KR" altLang="en-US" sz="1200" dirty="0"/>
                        <a:t> 목록 조회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대시보드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1756094516"/>
              </p:ext>
            </p:extLst>
          </p:nvPr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province (required): </a:t>
                      </a:r>
                      <a:r>
                        <a:rPr lang="ko-KR" altLang="en-US" sz="1200" dirty="0" err="1"/>
                        <a:t>시도명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[ { "code": "11110", "name": "</a:t>
                      </a:r>
                      <a:r>
                        <a:rPr lang="ko-KR" altLang="en-US" sz="1200" dirty="0"/>
                        <a:t>종로구</a:t>
                      </a:r>
                      <a:r>
                        <a:rPr lang="en-US" altLang="ko-KR" sz="1200" dirty="0"/>
                        <a:t>" }, { "code": "11140", "name": "</a:t>
                      </a:r>
                      <a:r>
                        <a:rPr lang="ko-KR" altLang="en-US" sz="1200" dirty="0"/>
                        <a:t>중구</a:t>
                      </a:r>
                      <a:r>
                        <a:rPr lang="en-US" altLang="ko-KR" sz="1200" dirty="0"/>
                        <a:t>" } ]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8569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1928682006"/>
              </p:ext>
            </p:extLst>
          </p:nvPr>
        </p:nvGraphicFramePr>
        <p:xfrm>
          <a:off x="1098745" y="1813175"/>
          <a:ext cx="10515625" cy="82806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12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/map/</a:t>
                      </a:r>
                      <a:r>
                        <a:rPr lang="en-US" altLang="ko-KR" sz="1200" dirty="0" err="1"/>
                        <a:t>crosswalks?bounds</a:t>
                      </a:r>
                      <a:r>
                        <a:rPr lang="en-US" altLang="ko-KR" sz="1200" dirty="0"/>
                        <a:t>=37.5,126.9,37.6,127.0&amp;limit=5000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횡단보도 목록 조회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지도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2494075931"/>
              </p:ext>
            </p:extLst>
          </p:nvPr>
        </p:nvGraphicFramePr>
        <p:xfrm>
          <a:off x="1098744" y="2677343"/>
          <a:ext cx="10515600" cy="3860140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bounds (required): </a:t>
                      </a:r>
                      <a:r>
                        <a:rPr lang="en-US" altLang="ko-KR" sz="1200" dirty="0" err="1"/>
                        <a:t>south,west,north,east</a:t>
                      </a:r>
                      <a:r>
                        <a:rPr lang="en-US" altLang="ko-KR" sz="1200" dirty="0"/>
                        <a:t> (</a:t>
                      </a:r>
                      <a:r>
                        <a:rPr lang="ko-KR" altLang="en-US" sz="1200" dirty="0"/>
                        <a:t>위도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경도 범위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limit (optional): </a:t>
                      </a:r>
                      <a:r>
                        <a:rPr lang="ko-KR" altLang="en-US" sz="1200" dirty="0"/>
                        <a:t>최대 결과 수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기본값</a:t>
                      </a:r>
                      <a:r>
                        <a:rPr lang="en-US" altLang="ko-KR" sz="1200" dirty="0"/>
                        <a:t>: 5000)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[ { "id": 1, "latitude": 37.5665, "longitude": 126.9780, "address": "</a:t>
                      </a:r>
                      <a:r>
                        <a:rPr lang="ko-KR" altLang="en-US" sz="1200" dirty="0"/>
                        <a:t>서울특별시 중구 태평로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가</a:t>
                      </a:r>
                      <a:r>
                        <a:rPr lang="en-US" altLang="ko-KR" sz="1200" dirty="0"/>
                        <a:t>", "</a:t>
                      </a:r>
                      <a:r>
                        <a:rPr lang="en-US" altLang="ko-KR" sz="1200" dirty="0" err="1"/>
                        <a:t>hasSignal</a:t>
                      </a:r>
                      <a:r>
                        <a:rPr lang="en-US" altLang="ko-KR" sz="1200" dirty="0"/>
                        <a:t>": true, "</a:t>
                      </a:r>
                      <a:r>
                        <a:rPr lang="en-US" altLang="ko-KR" sz="1200" dirty="0" err="1"/>
                        <a:t>hasSound</a:t>
                      </a:r>
                      <a:r>
                        <a:rPr lang="en-US" altLang="ko-KR" sz="1200" dirty="0"/>
                        <a:t>": true, "</a:t>
                      </a:r>
                      <a:r>
                        <a:rPr lang="en-US" altLang="ko-KR" sz="1200" dirty="0" err="1"/>
                        <a:t>hasBraille</a:t>
                      </a:r>
                      <a:r>
                        <a:rPr lang="en-US" altLang="ko-KR" sz="1200" dirty="0"/>
                        <a:t>": false, "</a:t>
                      </a:r>
                      <a:r>
                        <a:rPr lang="en-US" altLang="ko-KR" sz="1200" dirty="0" err="1"/>
                        <a:t>safetyScore</a:t>
                      </a:r>
                      <a:r>
                        <a:rPr lang="en-US" altLang="ko-KR" sz="1200" dirty="0"/>
                        <a:t>": 75.5, "</a:t>
                      </a:r>
                      <a:r>
                        <a:rPr lang="en-US" altLang="ko-KR" sz="1200" dirty="0" err="1"/>
                        <a:t>riskScore</a:t>
                      </a:r>
                      <a:r>
                        <a:rPr lang="en-US" altLang="ko-KR" sz="1200" dirty="0"/>
                        <a:t>": 35.2, "</a:t>
                      </a:r>
                      <a:r>
                        <a:rPr lang="en-US" altLang="ko-KR" sz="1200" dirty="0" err="1"/>
                        <a:t>nearbyAccidents</a:t>
                      </a:r>
                      <a:r>
                        <a:rPr lang="en-US" altLang="ko-KR" sz="1200" dirty="0"/>
                        <a:t>": 3 } ]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62245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3962912798"/>
              </p:ext>
            </p:extLst>
          </p:nvPr>
        </p:nvGraphicFramePr>
        <p:xfrm>
          <a:off x="1098745" y="1813175"/>
          <a:ext cx="10515625" cy="82806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13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/map/</a:t>
                      </a:r>
                      <a:r>
                        <a:rPr lang="en-US" altLang="ko-KR" sz="1200" dirty="0" err="1"/>
                        <a:t>acc_hotspots?bounds</a:t>
                      </a:r>
                      <a:r>
                        <a:rPr lang="en-US" altLang="ko-KR" sz="1200" dirty="0"/>
                        <a:t>=37.5,126.9,37.6,127.0&amp;limit=5000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사고 다발지역 조회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지도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2919063042"/>
              </p:ext>
            </p:extLst>
          </p:nvPr>
        </p:nvGraphicFramePr>
        <p:xfrm>
          <a:off x="1098744" y="2677343"/>
          <a:ext cx="10515600" cy="3860140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dirty="0" err="1"/>
                        <a:t>내용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bounds (required): </a:t>
                      </a:r>
                      <a:r>
                        <a:rPr lang="en-US" altLang="ko-KR" sz="1200" dirty="0" err="1"/>
                        <a:t>south,west,north,east</a:t>
                      </a:r>
                      <a:r>
                        <a:rPr lang="en-US" altLang="ko-KR" sz="1200" dirty="0"/>
                        <a:t> (</a:t>
                      </a:r>
                      <a:r>
                        <a:rPr lang="ko-KR" altLang="en-US" sz="1200" dirty="0"/>
                        <a:t>위도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경도 범위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limit (optional): </a:t>
                      </a:r>
                      <a:r>
                        <a:rPr lang="ko-KR" altLang="en-US" sz="1200" dirty="0"/>
                        <a:t>최대 결과 수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기본값</a:t>
                      </a:r>
                      <a:r>
                        <a:rPr lang="en-US" altLang="ko-KR" sz="1200" dirty="0"/>
                        <a:t>: 5000)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fr-FR"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"success": true, "message": "ok", "data": [ { "id": 1, "latitude": 37.5665, "longitude": 126.9780, "address": "</a:t>
                      </a:r>
                      <a:r>
                        <a:rPr lang="ko-KR" altLang="en-US" sz="1200" dirty="0"/>
                        <a:t>서울특별시 중구 태평로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가</a:t>
                      </a:r>
                      <a:r>
                        <a:rPr lang="en-US" altLang="ko-KR" sz="1200" dirty="0"/>
                        <a:t>", "</a:t>
                      </a:r>
                      <a:r>
                        <a:rPr lang="en-US" altLang="ko-KR" sz="1200" dirty="0" err="1"/>
                        <a:t>accidentCount</a:t>
                      </a:r>
                      <a:r>
                        <a:rPr lang="en-US" altLang="ko-KR" sz="1200" dirty="0"/>
                        <a:t>": 15, "</a:t>
                      </a:r>
                      <a:r>
                        <a:rPr lang="en-US" altLang="ko-KR" sz="1200" dirty="0" err="1"/>
                        <a:t>fatalityCount</a:t>
                      </a:r>
                      <a:r>
                        <a:rPr lang="en-US" altLang="ko-KR" sz="1200" dirty="0"/>
                        <a:t>": 2, "</a:t>
                      </a:r>
                      <a:r>
                        <a:rPr lang="en-US" altLang="ko-KR" sz="1200" dirty="0" err="1"/>
                        <a:t>seriousInjuryCount</a:t>
                      </a:r>
                      <a:r>
                        <a:rPr lang="en-US" altLang="ko-KR" sz="1200" dirty="0"/>
                        <a:t>": 5, "</a:t>
                      </a:r>
                      <a:r>
                        <a:rPr lang="en-US" altLang="ko-KR" sz="1200" dirty="0" err="1"/>
                        <a:t>minorInjuryCount</a:t>
                      </a:r>
                      <a:r>
                        <a:rPr lang="en-US" altLang="ko-KR" sz="1200" dirty="0"/>
                        <a:t>": 8 } ]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83654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2654897344"/>
              </p:ext>
            </p:extLst>
          </p:nvPr>
        </p:nvGraphicFramePr>
        <p:xfrm>
          <a:off x="1098745" y="1813175"/>
          <a:ext cx="10515625" cy="82806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14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pedacc</a:t>
                      </a: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summary?region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서울특별시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사고 통계 요약 조회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보행자 사고 통계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3855782895"/>
              </p:ext>
            </p:extLst>
          </p:nvPr>
        </p:nvGraphicFramePr>
        <p:xfrm>
          <a:off x="1098744" y="2677343"/>
          <a:ext cx="10515600" cy="4108480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710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dirty="0" err="1"/>
                        <a:t>내용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dirty="0" err="1"/>
                        <a:t>비고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10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region (optional): </a:t>
                      </a:r>
                      <a:r>
                        <a:rPr lang="ko-KR" altLang="en-US" sz="1200" dirty="0" err="1"/>
                        <a:t>지역명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시도 또는 </a:t>
                      </a:r>
                      <a:r>
                        <a:rPr lang="ko-KR" altLang="en-US" sz="1200" dirty="0" err="1"/>
                        <a:t>시군구</a:t>
                      </a:r>
                      <a:r>
                        <a:rPr lang="en-US" altLang="ko-KR" sz="1200" dirty="0"/>
                        <a:t>)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1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1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710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1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69171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"region": "</a:t>
                      </a:r>
                      <a:r>
                        <a:rPr lang="ko-KR" altLang="en-US" sz="1200" dirty="0"/>
                        <a:t>서울특별시</a:t>
                      </a:r>
                      <a:r>
                        <a:rPr lang="en-US" altLang="ko-KR" sz="1200" dirty="0"/>
                        <a:t>", "</a:t>
                      </a:r>
                      <a:r>
                        <a:rPr lang="en-US" altLang="ko-KR" sz="1200" dirty="0" err="1"/>
                        <a:t>regionType</a:t>
                      </a:r>
                      <a:r>
                        <a:rPr lang="en-US" altLang="ko-KR" sz="1200" dirty="0"/>
                        <a:t>": "PROVINCE", "yearly": [ { "year": 2023, "</a:t>
                      </a:r>
                      <a:r>
                        <a:rPr lang="en-US" altLang="ko-KR" sz="1200" dirty="0" err="1"/>
                        <a:t>accident_count</a:t>
                      </a:r>
                      <a:r>
                        <a:rPr lang="en-US" altLang="ko-KR" sz="1200" dirty="0"/>
                        <a:t>": 1500, "</a:t>
                      </a:r>
                      <a:r>
                        <a:rPr lang="en-US" altLang="ko-KR" sz="1200" dirty="0" err="1"/>
                        <a:t>casualty_count</a:t>
                      </a:r>
                      <a:r>
                        <a:rPr lang="en-US" altLang="ko-KR" sz="1200" dirty="0"/>
                        <a:t>": 1800, "</a:t>
                      </a:r>
                      <a:r>
                        <a:rPr lang="en-US" altLang="ko-KR" sz="1200" dirty="0" err="1"/>
                        <a:t>fatality_count</a:t>
                      </a:r>
                      <a:r>
                        <a:rPr lang="en-US" altLang="ko-KR" sz="1200" dirty="0"/>
                        <a:t>": 50, "</a:t>
                      </a:r>
                      <a:r>
                        <a:rPr lang="en-US" altLang="ko-KR" sz="1200" dirty="0" err="1"/>
                        <a:t>serious_injury_count</a:t>
                      </a:r>
                      <a:r>
                        <a:rPr lang="en-US" altLang="ko-KR" sz="1200" dirty="0"/>
                        <a:t>": 300, "</a:t>
                      </a:r>
                      <a:r>
                        <a:rPr lang="en-US" altLang="ko-KR" sz="1200" dirty="0" err="1"/>
                        <a:t>minor_injury_count</a:t>
                      </a:r>
                      <a:r>
                        <a:rPr lang="en-US" altLang="ko-KR" sz="1200" dirty="0"/>
                        <a:t>": 1200, "</a:t>
                      </a:r>
                      <a:r>
                        <a:rPr lang="en-US" altLang="ko-KR" sz="1200" dirty="0" err="1"/>
                        <a:t>reported_injury_count</a:t>
                      </a:r>
                      <a:r>
                        <a:rPr lang="en-US" altLang="ko-KR" sz="1200" dirty="0"/>
                        <a:t>": 250 } ], "monthly": [ { "year": 2023, "month": 1, "</a:t>
                      </a:r>
                      <a:r>
                        <a:rPr lang="en-US" altLang="ko-KR" sz="1200" dirty="0" err="1"/>
                        <a:t>accident_count</a:t>
                      </a:r>
                      <a:r>
                        <a:rPr lang="en-US" altLang="ko-KR" sz="1200" dirty="0"/>
                        <a:t>": 120, "</a:t>
                      </a:r>
                      <a:r>
                        <a:rPr lang="en-US" altLang="ko-KR" sz="1200" dirty="0" err="1"/>
                        <a:t>casualty_count</a:t>
                      </a:r>
                      <a:r>
                        <a:rPr lang="en-US" altLang="ko-KR" sz="1200" dirty="0"/>
                        <a:t>": 150, "</a:t>
                      </a:r>
                      <a:r>
                        <a:rPr lang="en-US" altLang="ko-KR" sz="1200" dirty="0" err="1"/>
                        <a:t>fatality_count</a:t>
                      </a:r>
                      <a:r>
                        <a:rPr lang="en-US" altLang="ko-KR" sz="1200" dirty="0"/>
                        <a:t>": 4, "</a:t>
                      </a:r>
                      <a:r>
                        <a:rPr lang="en-US" altLang="ko-KR" sz="1200" dirty="0" err="1"/>
                        <a:t>serious_injury_count</a:t>
                      </a:r>
                      <a:r>
                        <a:rPr lang="en-US" altLang="ko-KR" sz="1200" dirty="0"/>
                        <a:t>": 25, "</a:t>
                      </a:r>
                      <a:r>
                        <a:rPr lang="en-US" altLang="ko-KR" sz="1200" dirty="0" err="1"/>
                        <a:t>minor_injury_count</a:t>
                      </a:r>
                      <a:r>
                        <a:rPr lang="en-US" altLang="ko-KR" sz="1200" dirty="0"/>
                        <a:t>": 100, "</a:t>
                      </a:r>
                      <a:r>
                        <a:rPr lang="en-US" altLang="ko-KR" sz="1200" dirty="0" err="1"/>
                        <a:t>reported_injury_count</a:t>
                      </a:r>
                      <a:r>
                        <a:rPr lang="en-US" altLang="ko-KR" sz="1200" dirty="0"/>
                        <a:t>": 21 } ]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59887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3660079393"/>
              </p:ext>
            </p:extLst>
          </p:nvPr>
        </p:nvGraphicFramePr>
        <p:xfrm>
          <a:off x="1098745" y="1444712"/>
          <a:ext cx="10515625" cy="1022717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091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URI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180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15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suggestions?page</a:t>
                      </a:r>
                      <a:r>
                        <a:rPr lang="en-US" altLang="ko-KR" sz="1200" dirty="0"/>
                        <a:t>=1&amp;size=10&amp;status=</a:t>
                      </a:r>
                      <a:r>
                        <a:rPr lang="en-US" altLang="ko-KR" sz="1200" dirty="0" err="1"/>
                        <a:t>PENDING&amp;type</a:t>
                      </a:r>
                      <a:r>
                        <a:rPr lang="en-US" altLang="ko-KR" sz="1200" dirty="0"/>
                        <a:t>=</a:t>
                      </a:r>
                      <a:r>
                        <a:rPr lang="en-US" altLang="ko-KR" sz="1200" dirty="0" err="1"/>
                        <a:t>SIGNAL_INSTALLATION&amp;region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서울특별시</a:t>
                      </a:r>
                      <a:r>
                        <a:rPr lang="en-US" altLang="ko-KR" sz="1200" dirty="0"/>
                        <a:t>&amp;search=</a:t>
                      </a:r>
                      <a:r>
                        <a:rPr lang="ko-KR" altLang="en-US" sz="1200" dirty="0"/>
                        <a:t>신호등</a:t>
                      </a:r>
                      <a:r>
                        <a:rPr lang="en-US" altLang="ko-KR" sz="1200" dirty="0"/>
                        <a:t>&amp;sort=latest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 목록 </a:t>
                      </a:r>
                      <a:r>
                        <a:rPr lang="ko-KR" altLang="en-US" sz="1200" dirty="0" err="1"/>
                        <a:t>조희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1043175791"/>
              </p:ext>
            </p:extLst>
          </p:nvPr>
        </p:nvGraphicFramePr>
        <p:xfrm>
          <a:off x="1098744" y="2365829"/>
          <a:ext cx="10515600" cy="4480630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81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dirty="0" err="1"/>
                        <a:t>구분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dirty="0" err="1"/>
                        <a:t>내용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9241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page (optional): </a:t>
                      </a:r>
                      <a:r>
                        <a:rPr lang="ko-KR" altLang="en-US" sz="1200" dirty="0"/>
                        <a:t>페이지 번호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기본값</a:t>
                      </a:r>
                      <a:r>
                        <a:rPr lang="en-US" altLang="ko-KR" sz="1200" dirty="0"/>
                        <a:t>: 1)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size (optional): </a:t>
                      </a:r>
                      <a:r>
                        <a:rPr lang="ko-KR" altLang="en-US" sz="1200" dirty="0"/>
                        <a:t>페이지 크기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기본값</a:t>
                      </a:r>
                      <a:r>
                        <a:rPr lang="en-US" altLang="ko-KR" sz="1200" dirty="0"/>
                        <a:t>: 10)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status (optional): </a:t>
                      </a:r>
                      <a:r>
                        <a:rPr lang="ko-KR" altLang="en-US" sz="1200" dirty="0"/>
                        <a:t>상태 필터 </a:t>
                      </a:r>
                      <a:r>
                        <a:rPr lang="en-US" altLang="ko-KR" sz="1200" dirty="0"/>
                        <a:t>(ALL, PENDING, IN_PROGRESS, COMPLETED, REJECTED)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type (optional): </a:t>
                      </a:r>
                      <a:r>
                        <a:rPr lang="ko-KR" altLang="en-US" sz="1200" dirty="0"/>
                        <a:t>유형 필터 </a:t>
                      </a:r>
                      <a:r>
                        <a:rPr lang="en-US" altLang="ko-KR" sz="1200" dirty="0"/>
                        <a:t>(ALL, SIGNAL_INSTALLATION, SIGNAL_IMPROVEMENT, CROSSWALK_IMPROVEMENT, OTHER)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region (optional): </a:t>
                      </a:r>
                      <a:r>
                        <a:rPr lang="ko-KR" altLang="en-US" sz="1200" dirty="0"/>
                        <a:t>지역 필터</a:t>
                      </a:r>
                      <a:endParaRPr lang="en-US" altLang="ko-KR" sz="12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search (optional): </a:t>
                      </a:r>
                      <a:r>
                        <a:rPr lang="ko-KR" altLang="en-US" sz="1200" dirty="0"/>
                        <a:t>검색어</a:t>
                      </a:r>
                      <a:endParaRPr lang="en-US" altLang="ko-KR" sz="12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sort (optional): </a:t>
                      </a:r>
                      <a:r>
                        <a:rPr lang="ko-KR" altLang="en-US" sz="1200" dirty="0"/>
                        <a:t>정렬 방식 </a:t>
                      </a:r>
                      <a:r>
                        <a:rPr lang="en-US" altLang="ko-KR" sz="1200" dirty="0"/>
                        <a:t>(latest, popular, priority, status)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10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10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8109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10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9241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dirty="0"/>
                        <a:t>Body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"content": [ { "id": 1, "title": "</a:t>
                      </a:r>
                      <a:r>
                        <a:rPr lang="ko-KR" altLang="en-US" sz="1200" dirty="0"/>
                        <a:t>신호등 설치 요청</a:t>
                      </a:r>
                      <a:r>
                        <a:rPr lang="en-US" altLang="ko-KR" sz="1200" dirty="0"/>
                        <a:t>", "content": "</a:t>
                      </a:r>
                      <a:r>
                        <a:rPr lang="ko-KR" altLang="en-US" sz="1200" dirty="0"/>
                        <a:t>이 지역은 사고가 자주 발생합니다</a:t>
                      </a:r>
                      <a:r>
                        <a:rPr lang="en-US" altLang="ko-KR" sz="1200" dirty="0"/>
                        <a:t>.", "</a:t>
                      </a:r>
                      <a:r>
                        <a:rPr lang="en-US" altLang="ko-KR" sz="1200" dirty="0" err="1"/>
                        <a:t>location_lat</a:t>
                      </a:r>
                      <a:r>
                        <a:rPr lang="en-US" altLang="ko-KR" sz="1200" dirty="0"/>
                        <a:t>": 37.5665, "</a:t>
                      </a:r>
                      <a:r>
                        <a:rPr lang="en-US" altLang="ko-KR" sz="1200" dirty="0" err="1"/>
                        <a:t>location_lon</a:t>
                      </a:r>
                      <a:r>
                        <a:rPr lang="en-US" altLang="ko-KR" sz="1200" dirty="0"/>
                        <a:t>": 126.9780, "address": "</a:t>
                      </a:r>
                      <a:r>
                        <a:rPr lang="ko-KR" altLang="en-US" sz="1200" dirty="0"/>
                        <a:t>서울특별시 중구 태평로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가</a:t>
                      </a:r>
                      <a:r>
                        <a:rPr lang="en-US" altLang="ko-KR" sz="1200" dirty="0"/>
                        <a:t>", "</a:t>
                      </a:r>
                      <a:r>
                        <a:rPr lang="en-US" altLang="ko-KR" sz="1200" dirty="0" err="1"/>
                        <a:t>sido</a:t>
                      </a:r>
                      <a:r>
                        <a:rPr lang="en-US" altLang="ko-KR" sz="1200" dirty="0"/>
                        <a:t>": "</a:t>
                      </a:r>
                      <a:r>
                        <a:rPr lang="ko-KR" altLang="en-US" sz="1200" dirty="0"/>
                        <a:t>서울특별시</a:t>
                      </a:r>
                      <a:r>
                        <a:rPr lang="en-US" altLang="ko-KR" sz="1200" dirty="0"/>
                        <a:t>", "</a:t>
                      </a:r>
                      <a:r>
                        <a:rPr lang="en-US" altLang="ko-KR" sz="1200" dirty="0" err="1"/>
                        <a:t>sigungu</a:t>
                      </a:r>
                      <a:r>
                        <a:rPr lang="en-US" altLang="ko-KR" sz="1200" dirty="0"/>
                        <a:t>": "</a:t>
                      </a:r>
                      <a:r>
                        <a:rPr lang="ko-KR" altLang="en-US" sz="1200" dirty="0"/>
                        <a:t>중구</a:t>
                      </a:r>
                      <a:r>
                        <a:rPr lang="en-US" altLang="ko-KR" sz="1200" dirty="0"/>
                        <a:t>", "</a:t>
                      </a:r>
                      <a:r>
                        <a:rPr lang="en-US" altLang="ko-KR" sz="1200" dirty="0" err="1"/>
                        <a:t>suggestion_type</a:t>
                      </a:r>
                      <a:r>
                        <a:rPr lang="en-US" altLang="ko-KR" sz="1200" dirty="0"/>
                        <a:t>": "SIGNAL_INSTALLATION", "status": "PENDING", "</a:t>
                      </a:r>
                      <a:r>
                        <a:rPr lang="en-US" altLang="ko-KR" sz="1200" dirty="0" err="1"/>
                        <a:t>priority_score</a:t>
                      </a:r>
                      <a:r>
                        <a:rPr lang="en-US" altLang="ko-KR" sz="1200" dirty="0"/>
                        <a:t>": 85.5, "</a:t>
                      </a:r>
                      <a:r>
                        <a:rPr lang="en-US" altLang="ko-KR" sz="1200" dirty="0" err="1"/>
                        <a:t>like_count</a:t>
                      </a:r>
                      <a:r>
                        <a:rPr lang="en-US" altLang="ko-KR" sz="1200" dirty="0"/>
                        <a:t>": 15, "</a:t>
                      </a:r>
                      <a:r>
                        <a:rPr lang="en-US" altLang="ko-KR" sz="1200" dirty="0" err="1"/>
                        <a:t>view_count</a:t>
                      </a:r>
                      <a:r>
                        <a:rPr lang="en-US" altLang="ko-KR" sz="1200" dirty="0"/>
                        <a:t>": 120, "</a:t>
                      </a:r>
                      <a:r>
                        <a:rPr lang="en-US" altLang="ko-KR" sz="1200" dirty="0" err="1"/>
                        <a:t>comment_count</a:t>
                      </a:r>
                      <a:r>
                        <a:rPr lang="en-US" altLang="ko-KR" sz="1200" dirty="0"/>
                        <a:t>": 8, "</a:t>
                      </a:r>
                      <a:r>
                        <a:rPr lang="en-US" altLang="ko-KR" sz="1200" dirty="0" err="1"/>
                        <a:t>created_at</a:t>
                      </a:r>
                      <a:r>
                        <a:rPr lang="en-US" altLang="ko-KR" sz="1200" dirty="0"/>
                        <a:t>": "2024-01-15T10:30:00", "</a:t>
                      </a:r>
                      <a:r>
                        <a:rPr lang="en-US" altLang="ko-KR" sz="1200" dirty="0" err="1"/>
                        <a:t>updated_at</a:t>
                      </a:r>
                      <a:r>
                        <a:rPr lang="en-US" altLang="ko-KR" sz="1200" dirty="0"/>
                        <a:t>": "2024-01-15T10:30:00", "</a:t>
                      </a:r>
                      <a:r>
                        <a:rPr lang="en-US" altLang="ko-KR" sz="1200" dirty="0" err="1"/>
                        <a:t>user_id</a:t>
                      </a:r>
                      <a:r>
                        <a:rPr lang="en-US" altLang="ko-KR" sz="1200" dirty="0"/>
                        <a:t>": 1, "user": { "id": 1, "name": "</a:t>
                      </a:r>
                      <a:r>
                        <a:rPr lang="ko-KR" altLang="en-US" sz="1200" dirty="0"/>
                        <a:t>홍길동</a:t>
                      </a:r>
                      <a:r>
                        <a:rPr lang="en-US" altLang="ko-KR" sz="1200" dirty="0"/>
                        <a:t>", "picture": "https://example.com/profile.jpg" } } ], "</a:t>
                      </a:r>
                      <a:r>
                        <a:rPr lang="en-US" altLang="ko-KR" sz="1200" dirty="0" err="1"/>
                        <a:t>totalElements</a:t>
                      </a:r>
                      <a:r>
                        <a:rPr lang="en-US" altLang="ko-KR" sz="1200" dirty="0"/>
                        <a:t>": 100, "</a:t>
                      </a:r>
                      <a:r>
                        <a:rPr lang="en-US" altLang="ko-KR" sz="1200" dirty="0" err="1"/>
                        <a:t>totalPages</a:t>
                      </a:r>
                      <a:r>
                        <a:rPr lang="en-US" altLang="ko-KR" sz="1200" dirty="0"/>
                        <a:t>": 10, "</a:t>
                      </a:r>
                      <a:r>
                        <a:rPr lang="en-US" altLang="ko-KR" sz="1200" dirty="0" err="1"/>
                        <a:t>currentPage</a:t>
                      </a:r>
                      <a:r>
                        <a:rPr lang="en-US" altLang="ko-KR" sz="1200" dirty="0"/>
                        <a:t>": 1, "size": 10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5406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537345075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16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/suggestions/{id}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 상세 조회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1269661002"/>
              </p:ext>
            </p:extLst>
          </p:nvPr>
        </p:nvGraphicFramePr>
        <p:xfrm>
          <a:off x="1098744" y="2677343"/>
          <a:ext cx="10515600" cy="4115854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89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894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89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Cookie: </a:t>
                      </a:r>
                      <a:r>
                        <a:rPr lang="en-US" altLang="ko-KR" sz="1200" dirty="0" err="1"/>
                        <a:t>accessToken</a:t>
                      </a:r>
                      <a:r>
                        <a:rPr lang="en-US" altLang="ko-KR" sz="1200" dirty="0"/>
                        <a:t>=... (optional)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89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894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89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3786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dirty="0"/>
                        <a:t>Body</a:t>
                      </a: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"id": 1, "title": "</a:t>
                      </a:r>
                      <a:r>
                        <a:rPr lang="ko-KR" altLang="en-US" sz="1200" dirty="0"/>
                        <a:t>신호등 설치 요청</a:t>
                      </a:r>
                      <a:r>
                        <a:rPr lang="en-US" altLang="ko-KR" sz="1200" dirty="0"/>
                        <a:t>", "content": "</a:t>
                      </a:r>
                      <a:r>
                        <a:rPr lang="ko-KR" altLang="en-US" sz="1200" dirty="0"/>
                        <a:t>이 지역은 사고가 자주 발생합니다</a:t>
                      </a:r>
                      <a:r>
                        <a:rPr lang="en-US" altLang="ko-KR" sz="1200" dirty="0"/>
                        <a:t>.", "</a:t>
                      </a:r>
                      <a:r>
                        <a:rPr lang="en-US" altLang="ko-KR" sz="1200" dirty="0" err="1"/>
                        <a:t>location_lat</a:t>
                      </a:r>
                      <a:r>
                        <a:rPr lang="en-US" altLang="ko-KR" sz="1200" dirty="0"/>
                        <a:t>": 37.5665, "</a:t>
                      </a:r>
                      <a:r>
                        <a:rPr lang="en-US" altLang="ko-KR" sz="1200" dirty="0" err="1"/>
                        <a:t>location_lon</a:t>
                      </a:r>
                      <a:r>
                        <a:rPr lang="en-US" altLang="ko-KR" sz="1200" dirty="0"/>
                        <a:t>": 126.9780, "address": "</a:t>
                      </a:r>
                      <a:r>
                        <a:rPr lang="ko-KR" altLang="en-US" sz="1200" dirty="0"/>
                        <a:t>서울특별시 중구 태평로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가</a:t>
                      </a:r>
                      <a:r>
                        <a:rPr lang="en-US" altLang="ko-KR" sz="1200" dirty="0"/>
                        <a:t>", "</a:t>
                      </a:r>
                      <a:r>
                        <a:rPr lang="en-US" altLang="ko-KR" sz="1200" dirty="0" err="1"/>
                        <a:t>sido</a:t>
                      </a:r>
                      <a:r>
                        <a:rPr lang="en-US" altLang="ko-KR" sz="1200" dirty="0"/>
                        <a:t>": "</a:t>
                      </a:r>
                      <a:r>
                        <a:rPr lang="ko-KR" altLang="en-US" sz="1200" dirty="0"/>
                        <a:t>서울특별시</a:t>
                      </a:r>
                      <a:r>
                        <a:rPr lang="en-US" altLang="ko-KR" sz="1200" dirty="0"/>
                        <a:t>", "</a:t>
                      </a:r>
                      <a:r>
                        <a:rPr lang="en-US" altLang="ko-KR" sz="1200" dirty="0" err="1"/>
                        <a:t>sigungu</a:t>
                      </a:r>
                      <a:r>
                        <a:rPr lang="en-US" altLang="ko-KR" sz="1200" dirty="0"/>
                        <a:t>": "</a:t>
                      </a:r>
                      <a:r>
                        <a:rPr lang="ko-KR" altLang="en-US" sz="1200" dirty="0"/>
                        <a:t>중구</a:t>
                      </a:r>
                      <a:r>
                        <a:rPr lang="en-US" altLang="ko-KR" sz="1200" dirty="0"/>
                        <a:t>", "</a:t>
                      </a:r>
                      <a:r>
                        <a:rPr lang="en-US" altLang="ko-KR" sz="1200" dirty="0" err="1"/>
                        <a:t>sido_code</a:t>
                      </a:r>
                      <a:r>
                        <a:rPr lang="en-US" altLang="ko-KR" sz="1200" dirty="0"/>
                        <a:t>": "11", "</a:t>
                      </a:r>
                      <a:r>
                        <a:rPr lang="en-US" altLang="ko-KR" sz="1200" dirty="0" err="1"/>
                        <a:t>sigungu_code</a:t>
                      </a:r>
                      <a:r>
                        <a:rPr lang="en-US" altLang="ko-KR" sz="1200" dirty="0"/>
                        <a:t>": "11140", "</a:t>
                      </a:r>
                      <a:r>
                        <a:rPr lang="en-US" altLang="ko-KR" sz="1200" dirty="0" err="1"/>
                        <a:t>suggestion_type</a:t>
                      </a:r>
                      <a:r>
                        <a:rPr lang="en-US" altLang="ko-KR" sz="1200" dirty="0"/>
                        <a:t>": "SIGNAL_INSTALLATION", "status": "PENDING", "</a:t>
                      </a:r>
                      <a:r>
                        <a:rPr lang="en-US" altLang="ko-KR" sz="1200" dirty="0" err="1"/>
                        <a:t>priority_score</a:t>
                      </a:r>
                      <a:r>
                        <a:rPr lang="en-US" altLang="ko-KR" sz="1200" dirty="0"/>
                        <a:t>": 85.5, "</a:t>
                      </a:r>
                      <a:r>
                        <a:rPr lang="en-US" altLang="ko-KR" sz="1200" dirty="0" err="1"/>
                        <a:t>like_count</a:t>
                      </a:r>
                      <a:r>
                        <a:rPr lang="en-US" altLang="ko-KR" sz="1200" dirty="0"/>
                        <a:t>": 15, "</a:t>
                      </a:r>
                      <a:r>
                        <a:rPr lang="en-US" altLang="ko-KR" sz="1200" dirty="0" err="1"/>
                        <a:t>view_count</a:t>
                      </a:r>
                      <a:r>
                        <a:rPr lang="en-US" altLang="ko-KR" sz="1200" dirty="0"/>
                        <a:t>": 121, "</a:t>
                      </a:r>
                      <a:r>
                        <a:rPr lang="en-US" altLang="ko-KR" sz="1200" dirty="0" err="1"/>
                        <a:t>comment_count</a:t>
                      </a:r>
                      <a:r>
                        <a:rPr lang="en-US" altLang="ko-KR" sz="1200" dirty="0"/>
                        <a:t>": 8, "</a:t>
                      </a:r>
                      <a:r>
                        <a:rPr lang="en-US" altLang="ko-KR" sz="1200" dirty="0" err="1"/>
                        <a:t>created_at</a:t>
                      </a:r>
                      <a:r>
                        <a:rPr lang="en-US" altLang="ko-KR" sz="1200" dirty="0"/>
                        <a:t>": "2024-01-15T10:30:00", "</a:t>
                      </a:r>
                      <a:r>
                        <a:rPr lang="en-US" altLang="ko-KR" sz="1200" dirty="0" err="1"/>
                        <a:t>updated_at</a:t>
                      </a:r>
                      <a:r>
                        <a:rPr lang="en-US" altLang="ko-KR" sz="1200" dirty="0"/>
                        <a:t>": "2024-01-15T10:30:00", "</a:t>
                      </a:r>
                      <a:r>
                        <a:rPr lang="en-US" altLang="ko-KR" sz="1200" dirty="0" err="1"/>
                        <a:t>processed_at</a:t>
                      </a:r>
                      <a:r>
                        <a:rPr lang="en-US" altLang="ko-KR" sz="1200" dirty="0"/>
                        <a:t>": null, "</a:t>
                      </a:r>
                      <a:r>
                        <a:rPr lang="en-US" altLang="ko-KR" sz="1200" dirty="0" err="1"/>
                        <a:t>admin_response</a:t>
                      </a:r>
                      <a:r>
                        <a:rPr lang="en-US" altLang="ko-KR" sz="1200" dirty="0"/>
                        <a:t>": null, "</a:t>
                      </a:r>
                      <a:r>
                        <a:rPr lang="en-US" altLang="ko-KR" sz="1200" dirty="0" err="1"/>
                        <a:t>user_id</a:t>
                      </a:r>
                      <a:r>
                        <a:rPr lang="en-US" altLang="ko-KR" sz="1200" dirty="0"/>
                        <a:t>": 1, "user": { "id": 1, "name": "</a:t>
                      </a:r>
                      <a:r>
                        <a:rPr lang="ko-KR" altLang="en-US" sz="1200" dirty="0"/>
                        <a:t>홍길동</a:t>
                      </a:r>
                      <a:r>
                        <a:rPr lang="en-US" altLang="ko-KR" sz="1200" dirty="0"/>
                        <a:t>", "picture": "https://example.com/profile.jpg" }, "</a:t>
                      </a:r>
                      <a:r>
                        <a:rPr lang="en-US" altLang="ko-KR" sz="1200" dirty="0" err="1"/>
                        <a:t>is_liked</a:t>
                      </a:r>
                      <a:r>
                        <a:rPr lang="en-US" altLang="ko-KR" sz="1200" dirty="0"/>
                        <a:t>": false }</a:t>
                      </a:r>
                      <a:endParaRPr lang="en-US"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72758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2253174927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17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 작성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3555509937"/>
              </p:ext>
            </p:extLst>
          </p:nvPr>
        </p:nvGraphicFramePr>
        <p:xfrm>
          <a:off x="1098744" y="2677343"/>
          <a:ext cx="10515600" cy="3792812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982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Cookie: </a:t>
                      </a:r>
                      <a:r>
                        <a:rPr lang="en-US" altLang="ko-KR" sz="1200" dirty="0" err="1"/>
                        <a:t>accessToken</a:t>
                      </a:r>
                      <a:r>
                        <a:rPr lang="en-US" altLang="ko-KR" sz="1200" dirty="0"/>
                        <a:t>=...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Content-Type: application/json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"title": "</a:t>
                      </a:r>
                      <a:r>
                        <a:rPr lang="ko-KR" altLang="en-US" sz="1200" dirty="0"/>
                        <a:t>신호등 설치 요청</a:t>
                      </a:r>
                      <a:r>
                        <a:rPr lang="en-US" altLang="ko-KR" sz="1200" dirty="0"/>
                        <a:t>", "content": "</a:t>
                      </a:r>
                      <a:r>
                        <a:rPr lang="ko-KR" altLang="en-US" sz="1200" dirty="0"/>
                        <a:t>이 지역은 사고가 자주 발생합니다</a:t>
                      </a:r>
                      <a:r>
                        <a:rPr lang="en-US" altLang="ko-KR" sz="1200" dirty="0"/>
                        <a:t>.", "</a:t>
                      </a:r>
                      <a:r>
                        <a:rPr lang="en-US" altLang="ko-KR" sz="1200" dirty="0" err="1"/>
                        <a:t>suggestion_type</a:t>
                      </a:r>
                      <a:r>
                        <a:rPr lang="en-US" altLang="ko-KR" sz="1200" dirty="0"/>
                        <a:t>": "SIGNAL_INSTALLATION", "</a:t>
                      </a:r>
                      <a:r>
                        <a:rPr lang="en-US" altLang="ko-KR" sz="1200" dirty="0" err="1"/>
                        <a:t>location_lat</a:t>
                      </a:r>
                      <a:r>
                        <a:rPr lang="en-US" altLang="ko-KR" sz="1200" dirty="0"/>
                        <a:t>": 37.5665, "</a:t>
                      </a:r>
                      <a:r>
                        <a:rPr lang="en-US" altLang="ko-KR" sz="1200" dirty="0" err="1"/>
                        <a:t>location_lon</a:t>
                      </a:r>
                      <a:r>
                        <a:rPr lang="en-US" altLang="ko-KR" sz="1200" dirty="0"/>
                        <a:t>": 126.9780, "address": "</a:t>
                      </a:r>
                      <a:r>
                        <a:rPr lang="ko-KR" altLang="en-US" sz="1200" dirty="0"/>
                        <a:t>서울특별시 중구 태평로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가</a:t>
                      </a:r>
                      <a:r>
                        <a:rPr lang="en-US" altLang="ko-KR" sz="1200" dirty="0"/>
                        <a:t>", "</a:t>
                      </a:r>
                      <a:r>
                        <a:rPr lang="en-US" altLang="ko-KR" sz="1200" dirty="0" err="1"/>
                        <a:t>priority_score</a:t>
                      </a:r>
                      <a:r>
                        <a:rPr lang="en-US" altLang="ko-KR" sz="1200" dirty="0"/>
                        <a:t>": 85.5, "</a:t>
                      </a:r>
                      <a:r>
                        <a:rPr lang="en-US" altLang="ko-KR" sz="1200" dirty="0" err="1"/>
                        <a:t>sido_code</a:t>
                      </a:r>
                      <a:r>
                        <a:rPr lang="en-US" altLang="ko-KR" sz="1200" dirty="0"/>
                        <a:t>": "11", "</a:t>
                      </a:r>
                      <a:r>
                        <a:rPr lang="en-US" altLang="ko-KR" sz="1200" dirty="0" err="1"/>
                        <a:t>sigungu_code</a:t>
                      </a:r>
                      <a:r>
                        <a:rPr lang="en-US" altLang="ko-KR" sz="1200" dirty="0"/>
                        <a:t>": "11140"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41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85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"id": 1, "title": "</a:t>
                      </a:r>
                      <a:r>
                        <a:rPr lang="ko-KR" altLang="en-US" sz="1200" dirty="0"/>
                        <a:t>신호등 설치 요청</a:t>
                      </a:r>
                      <a:r>
                        <a:rPr lang="en-US" altLang="ko-KR" sz="1200" dirty="0"/>
                        <a:t>", "content": "</a:t>
                      </a:r>
                      <a:r>
                        <a:rPr lang="ko-KR" altLang="en-US" sz="1200" dirty="0"/>
                        <a:t>이 지역은 사고가 자주 발생합니다</a:t>
                      </a:r>
                      <a:r>
                        <a:rPr lang="en-US" altLang="ko-KR" sz="1200" dirty="0"/>
                        <a:t>.", "</a:t>
                      </a:r>
                      <a:r>
                        <a:rPr lang="en-US" altLang="ko-KR" sz="1200" dirty="0" err="1"/>
                        <a:t>location_lat</a:t>
                      </a:r>
                      <a:r>
                        <a:rPr lang="en-US" altLang="ko-KR" sz="1200" dirty="0"/>
                        <a:t>": 37.5665, "</a:t>
                      </a:r>
                      <a:r>
                        <a:rPr lang="en-US" altLang="ko-KR" sz="1200" dirty="0" err="1"/>
                        <a:t>location_lon</a:t>
                      </a:r>
                      <a:r>
                        <a:rPr lang="en-US" altLang="ko-KR" sz="1200" dirty="0"/>
                        <a:t>": 126.9780, "address": "</a:t>
                      </a:r>
                      <a:r>
                        <a:rPr lang="ko-KR" altLang="en-US" sz="1200" dirty="0"/>
                        <a:t>서울특별시 중구 태평로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가</a:t>
                      </a:r>
                      <a:r>
                        <a:rPr lang="en-US" altLang="ko-KR" sz="1200" dirty="0"/>
                        <a:t>", "</a:t>
                      </a:r>
                      <a:r>
                        <a:rPr lang="en-US" altLang="ko-KR" sz="1200" dirty="0" err="1"/>
                        <a:t>sido_code</a:t>
                      </a:r>
                      <a:r>
                        <a:rPr lang="en-US" altLang="ko-KR" sz="1200" dirty="0"/>
                        <a:t>": "11", "</a:t>
                      </a:r>
                      <a:r>
                        <a:rPr lang="en-US" altLang="ko-KR" sz="1200" dirty="0" err="1"/>
                        <a:t>sigungu_code</a:t>
                      </a:r>
                      <a:r>
                        <a:rPr lang="en-US" altLang="ko-KR" sz="1200" dirty="0"/>
                        <a:t>": "11140", "</a:t>
                      </a:r>
                      <a:r>
                        <a:rPr lang="en-US" altLang="ko-KR" sz="1200" dirty="0" err="1"/>
                        <a:t>suggestion_type</a:t>
                      </a:r>
                      <a:r>
                        <a:rPr lang="en-US" altLang="ko-KR" sz="1200" dirty="0"/>
                        <a:t>": "SIGNAL_INSTALLATION", "status": "PENDING", "</a:t>
                      </a:r>
                      <a:r>
                        <a:rPr lang="en-US" altLang="ko-KR" sz="1200" dirty="0" err="1"/>
                        <a:t>priority_score</a:t>
                      </a:r>
                      <a:r>
                        <a:rPr lang="en-US" altLang="ko-KR" sz="1200" dirty="0"/>
                        <a:t>": 85.5, "</a:t>
                      </a:r>
                      <a:r>
                        <a:rPr lang="en-US" altLang="ko-KR" sz="1200" dirty="0" err="1"/>
                        <a:t>like_count</a:t>
                      </a:r>
                      <a:r>
                        <a:rPr lang="en-US" altLang="ko-KR" sz="1200" dirty="0"/>
                        <a:t>": 0, "</a:t>
                      </a:r>
                      <a:r>
                        <a:rPr lang="en-US" altLang="ko-KR" sz="1200" dirty="0" err="1"/>
                        <a:t>view_count</a:t>
                      </a:r>
                      <a:r>
                        <a:rPr lang="en-US" altLang="ko-KR" sz="1200" dirty="0"/>
                        <a:t>": 0, "</a:t>
                      </a:r>
                      <a:r>
                        <a:rPr lang="en-US" altLang="ko-KR" sz="1200" dirty="0" err="1"/>
                        <a:t>comment_count</a:t>
                      </a:r>
                      <a:r>
                        <a:rPr lang="en-US" altLang="ko-KR" sz="1200" dirty="0"/>
                        <a:t>": 0, "</a:t>
                      </a:r>
                      <a:r>
                        <a:rPr lang="en-US" altLang="ko-KR" sz="1200" dirty="0" err="1"/>
                        <a:t>created_at</a:t>
                      </a:r>
                      <a:r>
                        <a:rPr lang="en-US" altLang="ko-KR" sz="1200" dirty="0"/>
                        <a:t>": "2024-01-15T10:30:00", "</a:t>
                      </a:r>
                      <a:r>
                        <a:rPr lang="en-US" altLang="ko-KR" sz="1200" dirty="0" err="1"/>
                        <a:t>updated_at</a:t>
                      </a:r>
                      <a:r>
                        <a:rPr lang="en-US" altLang="ko-KR" sz="1200" dirty="0"/>
                        <a:t>": "2024-01-15T10:30:00", "</a:t>
                      </a:r>
                      <a:r>
                        <a:rPr lang="en-US" altLang="ko-KR" sz="1200" dirty="0" err="1"/>
                        <a:t>user_id</a:t>
                      </a:r>
                      <a:r>
                        <a:rPr lang="en-US" altLang="ko-KR" sz="1200" dirty="0"/>
                        <a:t>": 1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50893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2705219659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18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PUT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/suggestions/{id}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 수정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1766568485"/>
              </p:ext>
            </p:extLst>
          </p:nvPr>
        </p:nvGraphicFramePr>
        <p:xfrm>
          <a:off x="1098744" y="2677343"/>
          <a:ext cx="10515600" cy="432931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Cookie: </a:t>
                      </a:r>
                      <a:r>
                        <a:rPr lang="en-US" altLang="ko-KR" sz="1200" dirty="0" err="1"/>
                        <a:t>accessToken</a:t>
                      </a:r>
                      <a:r>
                        <a:rPr lang="en-US" altLang="ko-KR" sz="1200" dirty="0"/>
                        <a:t>=... Content-Type: application/json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"title": "</a:t>
                      </a:r>
                      <a:r>
                        <a:rPr lang="ko-KR" altLang="en-US" sz="1200" dirty="0"/>
                        <a:t>신호등 설치 요청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수정</a:t>
                      </a:r>
                      <a:r>
                        <a:rPr lang="en-US" altLang="ko-KR" sz="1200" dirty="0"/>
                        <a:t>)", "content": "</a:t>
                      </a:r>
                      <a:r>
                        <a:rPr lang="ko-KR" altLang="en-US" sz="1200" dirty="0"/>
                        <a:t>수정된 내용입니다</a:t>
                      </a:r>
                      <a:r>
                        <a:rPr lang="en-US" altLang="ko-KR" sz="1200" dirty="0"/>
                        <a:t>.", "</a:t>
                      </a:r>
                      <a:r>
                        <a:rPr lang="en-US" altLang="ko-KR" sz="1200" dirty="0" err="1"/>
                        <a:t>suggestion_type</a:t>
                      </a:r>
                      <a:r>
                        <a:rPr lang="en-US" altLang="ko-KR" sz="1200" dirty="0"/>
                        <a:t>": "SIGNAL_INSTALLATION", "</a:t>
                      </a:r>
                      <a:r>
                        <a:rPr lang="en-US" altLang="ko-KR" sz="1200" dirty="0" err="1"/>
                        <a:t>location_lat</a:t>
                      </a:r>
                      <a:r>
                        <a:rPr lang="en-US" altLang="ko-KR" sz="1200" dirty="0"/>
                        <a:t>": 37.5665, "</a:t>
                      </a:r>
                      <a:r>
                        <a:rPr lang="en-US" altLang="ko-KR" sz="1200" dirty="0" err="1"/>
                        <a:t>location_lon</a:t>
                      </a:r>
                      <a:r>
                        <a:rPr lang="en-US" altLang="ko-KR" sz="1200" dirty="0"/>
                        <a:t>": 126.9780, "address": "</a:t>
                      </a:r>
                      <a:r>
                        <a:rPr lang="ko-KR" altLang="en-US" sz="1200" dirty="0"/>
                        <a:t>서울특별시 중구 태평로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가</a:t>
                      </a:r>
                      <a:r>
                        <a:rPr lang="en-US" altLang="ko-KR" sz="1200" dirty="0"/>
                        <a:t>"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"id": 1, "title": "</a:t>
                      </a:r>
                      <a:r>
                        <a:rPr lang="ko-KR" altLang="en-US" sz="1200" dirty="0"/>
                        <a:t>신호등 설치 요청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수정</a:t>
                      </a:r>
                      <a:r>
                        <a:rPr lang="en-US" altLang="ko-KR" sz="1200" dirty="0"/>
                        <a:t>)", "content": "</a:t>
                      </a:r>
                      <a:r>
                        <a:rPr lang="ko-KR" altLang="en-US" sz="1200" dirty="0"/>
                        <a:t>수정된 내용입니다</a:t>
                      </a:r>
                      <a:r>
                        <a:rPr lang="en-US" altLang="ko-KR" sz="1200" dirty="0"/>
                        <a:t>.", "</a:t>
                      </a:r>
                      <a:r>
                        <a:rPr lang="en-US" altLang="ko-KR" sz="1200" dirty="0" err="1"/>
                        <a:t>location_lat</a:t>
                      </a:r>
                      <a:r>
                        <a:rPr lang="en-US" altLang="ko-KR" sz="1200" dirty="0"/>
                        <a:t>": 37.5665, "</a:t>
                      </a:r>
                      <a:r>
                        <a:rPr lang="en-US" altLang="ko-KR" sz="1200" dirty="0" err="1"/>
                        <a:t>location_lon</a:t>
                      </a:r>
                      <a:r>
                        <a:rPr lang="en-US" altLang="ko-KR" sz="1200" dirty="0"/>
                        <a:t>": 126.9780, "address": "</a:t>
                      </a:r>
                      <a:r>
                        <a:rPr lang="ko-KR" altLang="en-US" sz="1200" dirty="0"/>
                        <a:t>서울특별시 중구 태평로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가</a:t>
                      </a:r>
                      <a:r>
                        <a:rPr lang="en-US" altLang="ko-KR" sz="1200" dirty="0"/>
                        <a:t>", "</a:t>
                      </a:r>
                      <a:r>
                        <a:rPr lang="en-US" altLang="ko-KR" sz="1200" dirty="0" err="1"/>
                        <a:t>suggestion_type</a:t>
                      </a:r>
                      <a:r>
                        <a:rPr lang="en-US" altLang="ko-KR" sz="1200" dirty="0"/>
                        <a:t>": "SIGNAL_INSTALLATION", "status": "PENDING", "</a:t>
                      </a:r>
                      <a:r>
                        <a:rPr lang="en-US" altLang="ko-KR" sz="1200" dirty="0" err="1"/>
                        <a:t>priority_score</a:t>
                      </a:r>
                      <a:r>
                        <a:rPr lang="en-US" altLang="ko-KR" sz="1200" dirty="0"/>
                        <a:t>": 85.5, "</a:t>
                      </a:r>
                      <a:r>
                        <a:rPr lang="en-US" altLang="ko-KR" sz="1200" dirty="0" err="1"/>
                        <a:t>like_count</a:t>
                      </a:r>
                      <a:r>
                        <a:rPr lang="en-US" altLang="ko-KR" sz="1200" dirty="0"/>
                        <a:t>": 15, "</a:t>
                      </a:r>
                      <a:r>
                        <a:rPr lang="en-US" altLang="ko-KR" sz="1200" dirty="0" err="1"/>
                        <a:t>view_count</a:t>
                      </a:r>
                      <a:r>
                        <a:rPr lang="en-US" altLang="ko-KR" sz="1200" dirty="0"/>
                        <a:t>": 121, "</a:t>
                      </a:r>
                      <a:r>
                        <a:rPr lang="en-US" altLang="ko-KR" sz="1200" dirty="0" err="1"/>
                        <a:t>comment_count</a:t>
                      </a:r>
                      <a:r>
                        <a:rPr lang="en-US" altLang="ko-KR" sz="1200" dirty="0"/>
                        <a:t>": 8, "</a:t>
                      </a:r>
                      <a:r>
                        <a:rPr lang="en-US" altLang="ko-KR" sz="1200" dirty="0" err="1"/>
                        <a:t>created_at</a:t>
                      </a:r>
                      <a:r>
                        <a:rPr lang="en-US" altLang="ko-KR" sz="1200" dirty="0"/>
                        <a:t>": "2024-01-15T10:30:00", "</a:t>
                      </a:r>
                      <a:r>
                        <a:rPr lang="en-US" altLang="ko-KR" sz="1200" dirty="0" err="1"/>
                        <a:t>updated_at</a:t>
                      </a:r>
                      <a:r>
                        <a:rPr lang="en-US" altLang="ko-KR" sz="1200" dirty="0"/>
                        <a:t>": "2024-01-15T11:00:00", "</a:t>
                      </a:r>
                      <a:r>
                        <a:rPr lang="en-US" altLang="ko-KR" sz="1200" dirty="0" err="1"/>
                        <a:t>user_id</a:t>
                      </a:r>
                      <a:r>
                        <a:rPr lang="en-US" altLang="ko-KR" sz="1200" dirty="0"/>
                        <a:t>": 1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76552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3464631583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19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DELETE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/suggestions/{id}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 삭제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1696450465"/>
              </p:ext>
            </p:extLst>
          </p:nvPr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dirty="0" err="1"/>
                        <a:t>내용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Cookie: </a:t>
                      </a:r>
                      <a:r>
                        <a:rPr lang="en-US" altLang="ko-KR" sz="1200" dirty="0" err="1"/>
                        <a:t>accessToken</a:t>
                      </a:r>
                      <a:r>
                        <a:rPr lang="en-US" altLang="ko-KR" sz="1200" dirty="0"/>
                        <a:t>=...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"message": "</a:t>
                      </a:r>
                      <a:r>
                        <a:rPr lang="ko-KR" altLang="en-US" sz="1200" dirty="0"/>
                        <a:t>건의사항이 삭제되었습니다</a:t>
                      </a:r>
                      <a:r>
                        <a:rPr lang="en-US" altLang="ko-KR" sz="1200" dirty="0"/>
                        <a:t>."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77681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2099297608"/>
              </p:ext>
            </p:extLst>
          </p:nvPr>
        </p:nvGraphicFramePr>
        <p:xfrm>
          <a:off x="1098745" y="1813175"/>
          <a:ext cx="10515625" cy="82806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20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</a:t>
                      </a:r>
                      <a:r>
                        <a:rPr lang="en-US" altLang="ko-KR" sz="1200" dirty="0" err="1"/>
                        <a:t>my?page</a:t>
                      </a:r>
                      <a:r>
                        <a:rPr lang="en-US" altLang="ko-KR" sz="1200" dirty="0"/>
                        <a:t>=1&amp;pageSize=10&amp;status=ALL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내 건의사항 목록 </a:t>
                      </a:r>
                      <a:r>
                        <a:rPr lang="ko-KR" altLang="en-US" sz="1200" dirty="0" err="1"/>
                        <a:t>조희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3104974061"/>
              </p:ext>
            </p:extLst>
          </p:nvPr>
        </p:nvGraphicFramePr>
        <p:xfrm>
          <a:off x="1098744" y="2677343"/>
          <a:ext cx="10515600" cy="3860140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page (optional): </a:t>
                      </a:r>
                      <a:r>
                        <a:rPr lang="ko-KR" altLang="en-US" sz="1200" dirty="0"/>
                        <a:t>페이지 번호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기본값</a:t>
                      </a:r>
                      <a:r>
                        <a:rPr lang="en-US" altLang="ko-KR" sz="1200" dirty="0"/>
                        <a:t>: 1)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 err="1"/>
                        <a:t>pageSize</a:t>
                      </a:r>
                      <a:r>
                        <a:rPr lang="en-US" altLang="ko-KR" sz="1200" dirty="0"/>
                        <a:t> (optional): </a:t>
                      </a:r>
                      <a:r>
                        <a:rPr lang="ko-KR" altLang="en-US" sz="1200" dirty="0"/>
                        <a:t>페이지 크기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기본값</a:t>
                      </a:r>
                      <a:r>
                        <a:rPr lang="en-US" altLang="ko-KR" sz="1200" dirty="0"/>
                        <a:t>: 10)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status (optional): </a:t>
                      </a:r>
                      <a:r>
                        <a:rPr lang="ko-KR" altLang="en-US" sz="1200" dirty="0"/>
                        <a:t>상태 필터 </a:t>
                      </a:r>
                      <a:r>
                        <a:rPr lang="en-US" altLang="ko-KR" sz="1200" dirty="0"/>
                        <a:t>(ALL, PENDING, IN_PROGRESS, COMPLETED, REJECTED)</a:t>
                      </a:r>
                      <a:endParaRPr lang="en-US" altLang="ko-KR"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Cookie: </a:t>
                      </a:r>
                      <a:r>
                        <a:rPr lang="en-US" altLang="ko-KR" sz="1200" dirty="0" err="1"/>
                        <a:t>accessToken</a:t>
                      </a:r>
                      <a:r>
                        <a:rPr lang="en-US" altLang="ko-KR" sz="1200" dirty="0"/>
                        <a:t>=...</a:t>
                      </a: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"success": true, "message": "</a:t>
                      </a:r>
                      <a:r>
                        <a:rPr lang="ko-KR" altLang="en-US" sz="1200" dirty="0"/>
                        <a:t>내 게시글 조회 성공</a:t>
                      </a:r>
                      <a:r>
                        <a:rPr lang="en-US" altLang="ko-KR" sz="1200" dirty="0"/>
                        <a:t>", "data": { "items": [...], "</a:t>
                      </a:r>
                      <a:r>
                        <a:rPr lang="en-US" altLang="ko-KR" sz="1200" dirty="0" err="1"/>
                        <a:t>totalCount</a:t>
                      </a:r>
                      <a:r>
                        <a:rPr lang="en-US" altLang="ko-KR" sz="1200" dirty="0"/>
                        <a:t>": 25, "page": 1, "</a:t>
                      </a:r>
                      <a:r>
                        <a:rPr lang="en-US" altLang="ko-KR" sz="1200" dirty="0" err="1"/>
                        <a:t>pageSize</a:t>
                      </a:r>
                      <a:r>
                        <a:rPr lang="en-US" altLang="ko-KR" sz="1200" dirty="0"/>
                        <a:t>": 10, "</a:t>
                      </a:r>
                      <a:r>
                        <a:rPr lang="en-US" altLang="ko-KR" sz="1200" dirty="0" err="1"/>
                        <a:t>totalPages</a:t>
                      </a:r>
                      <a:r>
                        <a:rPr lang="en-US" altLang="ko-KR" sz="1200" dirty="0"/>
                        <a:t>": 3 }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42393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1269650151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21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/suggestions/regions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지역목록 </a:t>
                      </a:r>
                      <a:r>
                        <a:rPr lang="ko-KR" altLang="en-US" sz="1200" dirty="0" err="1"/>
                        <a:t>조희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건의사항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264072640"/>
              </p:ext>
            </p:extLst>
          </p:nvPr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[ "</a:t>
                      </a:r>
                      <a:r>
                        <a:rPr lang="ko-KR" altLang="en-US" sz="1200" dirty="0"/>
                        <a:t>서울특별시</a:t>
                      </a:r>
                      <a:r>
                        <a:rPr lang="en-US" altLang="ko-KR" sz="1200" dirty="0"/>
                        <a:t>", "</a:t>
                      </a:r>
                      <a:r>
                        <a:rPr lang="ko-KR" altLang="en-US" sz="1200" dirty="0"/>
                        <a:t>부산광역시</a:t>
                      </a:r>
                      <a:r>
                        <a:rPr lang="en-US" altLang="ko-KR" sz="1200" dirty="0"/>
                        <a:t>", "</a:t>
                      </a:r>
                      <a:r>
                        <a:rPr lang="ko-KR" altLang="en-US" sz="1200" dirty="0"/>
                        <a:t>인천광역시</a:t>
                      </a:r>
                      <a:r>
                        <a:rPr lang="en-US" altLang="ko-KR" sz="1200" dirty="0"/>
                        <a:t>" ]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7573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3090244855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22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/suggestions/{id}/comments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 목록 조회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651863765"/>
              </p:ext>
            </p:extLst>
          </p:nvPr>
        </p:nvGraphicFramePr>
        <p:xfrm>
          <a:off x="1098744" y="2677343"/>
          <a:ext cx="10515600" cy="4088911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96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461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[ { "id": 1, "</a:t>
                      </a:r>
                      <a:r>
                        <a:rPr lang="en-US" altLang="ko-KR" sz="1200" dirty="0" err="1"/>
                        <a:t>suggestion_id</a:t>
                      </a:r>
                      <a:r>
                        <a:rPr lang="en-US" altLang="ko-KR" sz="1200" dirty="0"/>
                        <a:t>": 1, "content": "</a:t>
                      </a:r>
                      <a:r>
                        <a:rPr lang="ko-KR" altLang="en-US" sz="1200" dirty="0"/>
                        <a:t>좋은 의견입니다</a:t>
                      </a:r>
                      <a:r>
                        <a:rPr lang="en-US" altLang="ko-KR" sz="1200" dirty="0"/>
                        <a:t>.", "</a:t>
                      </a:r>
                      <a:r>
                        <a:rPr lang="en-US" altLang="ko-KR" sz="1200" dirty="0" err="1"/>
                        <a:t>created_at</a:t>
                      </a:r>
                      <a:r>
                        <a:rPr lang="en-US" altLang="ko-KR" sz="1200" dirty="0"/>
                        <a:t>": "2024-01-15T11:00:00", "user": { "id": 2, "name": "</a:t>
                      </a:r>
                      <a:r>
                        <a:rPr lang="ko-KR" altLang="en-US" sz="1200" dirty="0"/>
                        <a:t>김철수</a:t>
                      </a:r>
                      <a:r>
                        <a:rPr lang="en-US" altLang="ko-KR" sz="1200" dirty="0"/>
                        <a:t>", "picture": "https://example.com/profile2.jpg" }, "</a:t>
                      </a:r>
                      <a:r>
                        <a:rPr lang="en-US" altLang="ko-KR" sz="1200" dirty="0" err="1"/>
                        <a:t>parent_id</a:t>
                      </a:r>
                      <a:r>
                        <a:rPr lang="en-US" altLang="ko-KR" sz="1200" dirty="0"/>
                        <a:t>": null, "replies": [ { "id": 2, "</a:t>
                      </a:r>
                      <a:r>
                        <a:rPr lang="en-US" altLang="ko-KR" sz="1200" dirty="0" err="1"/>
                        <a:t>suggestion_id</a:t>
                      </a:r>
                      <a:r>
                        <a:rPr lang="en-US" altLang="ko-KR" sz="1200" dirty="0"/>
                        <a:t>": 1, "content": "</a:t>
                      </a:r>
                      <a:r>
                        <a:rPr lang="ko-KR" altLang="en-US" sz="1200" dirty="0"/>
                        <a:t>감사합니다</a:t>
                      </a:r>
                      <a:r>
                        <a:rPr lang="en-US" altLang="ko-KR" sz="1200" dirty="0"/>
                        <a:t>.", "</a:t>
                      </a:r>
                      <a:r>
                        <a:rPr lang="en-US" altLang="ko-KR" sz="1200" dirty="0" err="1"/>
                        <a:t>created_at</a:t>
                      </a:r>
                      <a:r>
                        <a:rPr lang="en-US" altLang="ko-KR" sz="1200" dirty="0"/>
                        <a:t>": "2024-01-15T11:30:00", "user": { "id": 1, "name": "</a:t>
                      </a:r>
                      <a:r>
                        <a:rPr lang="ko-KR" altLang="en-US" sz="1200" dirty="0"/>
                        <a:t>홍길동</a:t>
                      </a:r>
                      <a:r>
                        <a:rPr lang="en-US" altLang="ko-KR" sz="1200" dirty="0"/>
                        <a:t>", "picture": "https://example.com/profile.jpg" }, "</a:t>
                      </a:r>
                      <a:r>
                        <a:rPr lang="en-US" altLang="ko-KR" sz="1200" dirty="0" err="1"/>
                        <a:t>parent_id</a:t>
                      </a:r>
                      <a:r>
                        <a:rPr lang="en-US" altLang="ko-KR" sz="1200" dirty="0"/>
                        <a:t>": 1, "replies": [] } ] } ]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59309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3436744267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23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POST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/suggestions/{id}/comments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 작성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2647544929"/>
              </p:ext>
            </p:extLst>
          </p:nvPr>
        </p:nvGraphicFramePr>
        <p:xfrm>
          <a:off x="1098744" y="2677343"/>
          <a:ext cx="10515600" cy="3860140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Cookie: </a:t>
                      </a:r>
                      <a:r>
                        <a:rPr lang="en-US" altLang="ko-KR" sz="1200" dirty="0" err="1"/>
                        <a:t>accessToken</a:t>
                      </a:r>
                      <a:r>
                        <a:rPr lang="en-US" altLang="ko-KR" sz="1200" dirty="0"/>
                        <a:t>=... Content-Type: application/json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"content": "</a:t>
                      </a:r>
                      <a:r>
                        <a:rPr lang="ko-KR" altLang="en-US" sz="1200" dirty="0"/>
                        <a:t>좋은 의견입니다</a:t>
                      </a:r>
                      <a:r>
                        <a:rPr lang="en-US" altLang="ko-KR" sz="1200" dirty="0"/>
                        <a:t>.", "</a:t>
                      </a:r>
                      <a:r>
                        <a:rPr lang="en-US" altLang="ko-KR" sz="1200" dirty="0" err="1"/>
                        <a:t>parentId</a:t>
                      </a:r>
                      <a:r>
                        <a:rPr lang="en-US" altLang="ko-KR" sz="1200" dirty="0"/>
                        <a:t>": null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"id": 1, "</a:t>
                      </a:r>
                      <a:r>
                        <a:rPr lang="en-US" altLang="ko-KR" sz="1200" dirty="0" err="1"/>
                        <a:t>suggestion_id</a:t>
                      </a:r>
                      <a:r>
                        <a:rPr lang="en-US" altLang="ko-KR" sz="1200" dirty="0"/>
                        <a:t>": 1, "content": "</a:t>
                      </a:r>
                      <a:r>
                        <a:rPr lang="ko-KR" altLang="en-US" sz="1200" dirty="0"/>
                        <a:t>좋은 의견입니다</a:t>
                      </a:r>
                      <a:r>
                        <a:rPr lang="en-US" altLang="ko-KR" sz="1200" dirty="0"/>
                        <a:t>.", "</a:t>
                      </a:r>
                      <a:r>
                        <a:rPr lang="en-US" altLang="ko-KR" sz="1200" dirty="0" err="1"/>
                        <a:t>created_at</a:t>
                      </a:r>
                      <a:r>
                        <a:rPr lang="en-US" altLang="ko-KR" sz="1200" dirty="0"/>
                        <a:t>": "2024-01-15T11:00:00", "user": { "id": 2, "name": "</a:t>
                      </a:r>
                      <a:r>
                        <a:rPr lang="ko-KR" altLang="en-US" sz="1200" dirty="0"/>
                        <a:t>김철수</a:t>
                      </a:r>
                      <a:r>
                        <a:rPr lang="en-US" altLang="ko-KR" sz="1200" dirty="0"/>
                        <a:t>", "picture": "https://example.com/profile2.jpg" }, "</a:t>
                      </a:r>
                      <a:r>
                        <a:rPr lang="en-US" altLang="ko-KR" sz="1200" dirty="0" err="1"/>
                        <a:t>parent_id</a:t>
                      </a:r>
                      <a:r>
                        <a:rPr lang="en-US" altLang="ko-KR" sz="1200" dirty="0"/>
                        <a:t>": null, "replies": []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71224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3189167611"/>
              </p:ext>
            </p:extLst>
          </p:nvPr>
        </p:nvGraphicFramePr>
        <p:xfrm>
          <a:off x="1098745" y="1813175"/>
          <a:ext cx="10515625" cy="82806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24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PUT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altLang="ko-KR" sz="1200" dirty="0"/>
                        <a:t>/api/suggestions/{suggestionId}/comments/{commentId}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 수정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2743466356"/>
              </p:ext>
            </p:extLst>
          </p:nvPr>
        </p:nvGraphicFramePr>
        <p:xfrm>
          <a:off x="1098744" y="2677343"/>
          <a:ext cx="10515600" cy="3860140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Cookie: </a:t>
                      </a:r>
                      <a:r>
                        <a:rPr lang="en-US" altLang="ko-KR" sz="1200" dirty="0" err="1"/>
                        <a:t>accessToken</a:t>
                      </a:r>
                      <a:r>
                        <a:rPr lang="en-US" altLang="ko-KR" sz="1200" dirty="0"/>
                        <a:t>=... Content-Type: application/json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"content": "</a:t>
                      </a:r>
                      <a:r>
                        <a:rPr lang="ko-KR" altLang="en-US" sz="1200" dirty="0"/>
                        <a:t>수정된 댓글 내용입니다</a:t>
                      </a:r>
                      <a:r>
                        <a:rPr lang="en-US" altLang="ko-KR" sz="1200" dirty="0"/>
                        <a:t>."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"id": 1, "</a:t>
                      </a:r>
                      <a:r>
                        <a:rPr lang="en-US" altLang="ko-KR" sz="1200" dirty="0" err="1"/>
                        <a:t>suggestion_id</a:t>
                      </a:r>
                      <a:r>
                        <a:rPr lang="en-US" altLang="ko-KR" sz="1200" dirty="0"/>
                        <a:t>": 1, "content": "</a:t>
                      </a:r>
                      <a:r>
                        <a:rPr lang="ko-KR" altLang="en-US" sz="1200" dirty="0"/>
                        <a:t>수정된 댓글 내용입니다</a:t>
                      </a:r>
                      <a:r>
                        <a:rPr lang="en-US" altLang="ko-KR" sz="1200" dirty="0"/>
                        <a:t>.", "</a:t>
                      </a:r>
                      <a:r>
                        <a:rPr lang="en-US" altLang="ko-KR" sz="1200" dirty="0" err="1"/>
                        <a:t>created_at</a:t>
                      </a:r>
                      <a:r>
                        <a:rPr lang="en-US" altLang="ko-KR" sz="1200" dirty="0"/>
                        <a:t>": "2024-01-15T11:00:00", "user": { "id": 2, "name": "</a:t>
                      </a:r>
                      <a:r>
                        <a:rPr lang="ko-KR" altLang="en-US" sz="1200" dirty="0"/>
                        <a:t>김철수</a:t>
                      </a:r>
                      <a:r>
                        <a:rPr lang="en-US" altLang="ko-KR" sz="1200" dirty="0"/>
                        <a:t>", "picture": "https://example.com/profile2.jpg" }, "</a:t>
                      </a:r>
                      <a:r>
                        <a:rPr lang="en-US" altLang="ko-KR" sz="1200" dirty="0" err="1"/>
                        <a:t>parent_id</a:t>
                      </a:r>
                      <a:r>
                        <a:rPr lang="en-US" altLang="ko-KR" sz="1200" dirty="0"/>
                        <a:t>": null, "replies": []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4253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3505018503"/>
              </p:ext>
            </p:extLst>
          </p:nvPr>
        </p:nvGraphicFramePr>
        <p:xfrm>
          <a:off x="1098745" y="1813175"/>
          <a:ext cx="10515625" cy="82806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25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DELETE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altLang="ko-KR" sz="1200" dirty="0"/>
                        <a:t>/api/suggestions/{suggestionId}/comments/{commentId}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 삭제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댓글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4174581673"/>
              </p:ext>
            </p:extLst>
          </p:nvPr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dirty="0" err="1"/>
                        <a:t>내용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Cookie: </a:t>
                      </a:r>
                      <a:r>
                        <a:rPr lang="en-US" altLang="ko-KR" sz="1200" dirty="0" err="1"/>
                        <a:t>accessToken</a:t>
                      </a:r>
                      <a:r>
                        <a:rPr lang="en-US" altLang="ko-KR" sz="1200" dirty="0"/>
                        <a:t>=...</a:t>
                      </a:r>
                      <a:endParaRPr lang="en-US" altLang="ko-KR"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"message": "</a:t>
                      </a:r>
                      <a:r>
                        <a:rPr lang="ko-KR" altLang="en-US" sz="1200" dirty="0"/>
                        <a:t>댓글이 삭제되었습니다</a:t>
                      </a:r>
                      <a:r>
                        <a:rPr lang="en-US" altLang="ko-KR" sz="1200" dirty="0"/>
                        <a:t>."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49078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4294150579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26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POST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/suggestions/{id}/like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좋아요 </a:t>
                      </a:r>
                      <a:r>
                        <a:rPr lang="ko-KR" altLang="en-US" sz="1200" dirty="0" err="1"/>
                        <a:t>토글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좋아요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2395676638"/>
              </p:ext>
            </p:extLst>
          </p:nvPr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Cookie: </a:t>
                      </a:r>
                      <a:r>
                        <a:rPr lang="en-US" altLang="ko-KR" sz="1200" dirty="0" err="1"/>
                        <a:t>accessToken</a:t>
                      </a:r>
                      <a:r>
                        <a:rPr lang="en-US" altLang="ko-KR" sz="1200" dirty="0"/>
                        <a:t>=...</a:t>
                      </a:r>
                      <a:endParaRPr lang="en-US" altLang="ko-KR"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{ "liked": true, "message": "</a:t>
                      </a:r>
                      <a:r>
                        <a:rPr lang="ko-KR" altLang="en-US" sz="1200" dirty="0" err="1"/>
                        <a:t>좋아요를</a:t>
                      </a:r>
                      <a:r>
                        <a:rPr lang="ko-KR" altLang="en-US" sz="1200" dirty="0"/>
                        <a:t> 추가했습니다</a:t>
                      </a:r>
                      <a:r>
                        <a:rPr lang="en-US" altLang="ko-KR" sz="1200" dirty="0"/>
                        <a:t>." } </a:t>
                      </a:r>
                      <a:r>
                        <a:rPr lang="ko-KR" altLang="en-US" sz="1200" dirty="0"/>
                        <a:t>또는 </a:t>
                      </a:r>
                      <a:r>
                        <a:rPr lang="en-US" altLang="ko-KR" sz="1200" dirty="0"/>
                        <a:t>{ "liked": false, "message": "</a:t>
                      </a:r>
                      <a:r>
                        <a:rPr lang="ko-KR" altLang="en-US" sz="1200" dirty="0" err="1"/>
                        <a:t>좋아요를</a:t>
                      </a:r>
                      <a:r>
                        <a:rPr lang="ko-KR" altLang="en-US" sz="1200" dirty="0"/>
                        <a:t> 취소했습니다</a:t>
                      </a:r>
                      <a:r>
                        <a:rPr lang="en-US" altLang="ko-KR" sz="1200" dirty="0"/>
                        <a:t>." }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5991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3079045012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27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/district/provinces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시도 목록 조회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행정구역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796442827"/>
              </p:ext>
            </p:extLst>
          </p:nvPr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[ { "code": "11", "name": "</a:t>
                      </a:r>
                      <a:r>
                        <a:rPr lang="ko-KR" altLang="en-US" sz="1200" dirty="0"/>
                        <a:t>서울특별시</a:t>
                      </a:r>
                      <a:r>
                        <a:rPr lang="en-US" altLang="ko-KR" sz="1200" dirty="0"/>
                        <a:t>" } ]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62790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>
            <p:extLst>
              <p:ext uri="{D42A27DB-BD31-4B8C-83A1-F6EECF244321}">
                <p14:modId xmlns:p14="http://schemas.microsoft.com/office/powerpoint/2010/main" val="123357576"/>
              </p:ext>
            </p:extLst>
          </p:nvPr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28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GET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/district/</a:t>
                      </a:r>
                      <a:r>
                        <a:rPr lang="en-US" altLang="ko-KR" sz="1200" dirty="0" err="1"/>
                        <a:t>cities?provinceCode</a:t>
                      </a:r>
                      <a:r>
                        <a:rPr lang="en-US" altLang="ko-KR" sz="1200" dirty="0"/>
                        <a:t>=11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err="1"/>
                        <a:t>시군구</a:t>
                      </a:r>
                      <a:r>
                        <a:rPr lang="ko-KR" altLang="en-US" dirty="0"/>
                        <a:t> 목록 </a:t>
                      </a:r>
                      <a:r>
                        <a:rPr lang="ko-KR" altLang="en-US" dirty="0" err="1"/>
                        <a:t>조희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200" dirty="0"/>
                        <a:t>행정구역</a:t>
                      </a:r>
                      <a:endParaRPr sz="12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>
            <p:extLst>
              <p:ext uri="{D42A27DB-BD31-4B8C-83A1-F6EECF244321}">
                <p14:modId xmlns:p14="http://schemas.microsoft.com/office/powerpoint/2010/main" val="2128377613"/>
              </p:ext>
            </p:extLst>
          </p:nvPr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 err="1"/>
                        <a:t>provinceCode</a:t>
                      </a:r>
                      <a:r>
                        <a:rPr lang="en-US" altLang="ko-KR" sz="1200" dirty="0"/>
                        <a:t> (required): </a:t>
                      </a:r>
                      <a:r>
                        <a:rPr lang="ko-KR" altLang="en-US" sz="1200" dirty="0"/>
                        <a:t>시도 코드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dirty="0"/>
                        <a:t>[ { "code": "11110", "name": "</a:t>
                      </a:r>
                      <a:r>
                        <a:rPr lang="ko-KR" altLang="en-US" sz="1200" dirty="0"/>
                        <a:t>종로구</a:t>
                      </a:r>
                      <a:r>
                        <a:rPr lang="en-US" altLang="ko-KR" sz="1200" dirty="0"/>
                        <a:t>" } ]</a:t>
                      </a:r>
                      <a:endParaRPr sz="1200" b="0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8827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Database 설계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dirty="0"/>
              <a:t>ERD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0C039C1-2C2C-4036-917C-7953F2574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9313" y="1178787"/>
            <a:ext cx="7813374" cy="5519413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910F284-7D71-43B9-95F1-9C08397FA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77139"/>
            <a:ext cx="12120091" cy="5241713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C15FAEB-7157-4CC6-B6BE-D0641703B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353149"/>
            <a:ext cx="12006471" cy="523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7305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F7419E9-C69F-4F15-A91A-DF2C4652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1884559" cy="3186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2392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E22B51-9F67-4FE8-8E39-C2C95DF5F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7"/>
            <a:ext cx="12192000" cy="516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9848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D84041-B436-4064-9252-3BC6AD75F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187716" cy="313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35252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4BE8BD-7C0F-47BA-9E60-410025373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690688"/>
            <a:ext cx="12102357" cy="331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14424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4B4DE48-DCF3-4032-96B8-38D007EB8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1982258" cy="32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5354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83064E4-7250-40D2-A07A-6A108BE05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203083" cy="500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4141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E943886-E1B8-4C24-BA96-C23F86CBF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45491"/>
            <a:ext cx="12192000" cy="5274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00281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2BE8A25-4F88-4394-A963-E6B7489CE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690688"/>
            <a:ext cx="12192001" cy="4038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4620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A4665D3-6B9B-44CE-8984-8DF9E904A8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241212" cy="3338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6922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CC615A1-1533-4E07-AC87-49BE8B467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87697"/>
            <a:ext cx="12192000" cy="5251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87858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7F66D35-C6E4-485E-A187-696058B9D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192000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014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4259</Words>
  <Application>Microsoft Office PowerPoint</Application>
  <PresentationFormat>와이드스크린</PresentationFormat>
  <Paragraphs>1119</Paragraphs>
  <Slides>64</Slides>
  <Notes>64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68" baseType="lpstr">
      <vt:lpstr>굴림</vt:lpstr>
      <vt:lpstr>맑은 고딕</vt:lpstr>
      <vt:lpstr>Arial</vt:lpstr>
      <vt:lpstr>Office 테마</vt:lpstr>
      <vt:lpstr>횡단보도, 신호등 설치 현황 및 보행 안전 대시보드</vt:lpstr>
      <vt:lpstr>활용 데이터</vt:lpstr>
      <vt:lpstr>기능 정의</vt:lpstr>
      <vt:lpstr>시스템 구성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명세 목록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Database 설계</vt:lpstr>
      <vt:lpstr>ERD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횡단보도, 신호등 설치 현황 및 보행 안전 대시보드</dc:title>
  <dc:creator>김경민</dc:creator>
  <cp:lastModifiedBy>user</cp:lastModifiedBy>
  <cp:revision>28</cp:revision>
  <dcterms:created xsi:type="dcterms:W3CDTF">2023-11-14T00:10:21Z</dcterms:created>
  <dcterms:modified xsi:type="dcterms:W3CDTF">2026-01-22T08:51:49Z</dcterms:modified>
</cp:coreProperties>
</file>