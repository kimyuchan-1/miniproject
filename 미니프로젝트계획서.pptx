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2" r:id="rId10"/>
    <p:sldId id="274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DCxK2ZXgnnNZVs5wxL2S5y01F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94380D-7AE9-4E8F-AD6B-7CFE7C23461D}">
  <a:tblStyle styleId="{8494380D-7AE9-4E8F-AD6B-7CFE7C234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5CC03B4-4BE6-418C-813A-44F4487CB819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0D893A1-113A-440A-A9E9-711A06FFD2ED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BF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EBF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6791DC-5017-4400-B032-68944D555E09}" styleName="Table_3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7048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483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9735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0050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6001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24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9108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476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3b95ff5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b33b95ff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470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화면+상세설명">
  <p:cSld name="빈화면+상세설명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Google Shape;34;p18"/>
          <p:cNvGraphicFramePr/>
          <p:nvPr/>
        </p:nvGraphicFramePr>
        <p:xfrm>
          <a:off x="8956086" y="393703"/>
          <a:ext cx="3117375" cy="639287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Google Shape;35;p18"/>
          <p:cNvGraphicFramePr/>
          <p:nvPr/>
        </p:nvGraphicFramePr>
        <p:xfrm>
          <a:off x="93140" y="393705"/>
          <a:ext cx="8799100" cy="639287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879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25" marR="121925" marT="45725" marB="457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Google Shape;36;p18"/>
          <p:cNvGraphicFramePr/>
          <p:nvPr/>
        </p:nvGraphicFramePr>
        <p:xfrm>
          <a:off x="95025" y="71427"/>
          <a:ext cx="8797225" cy="24607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122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작업명</a:t>
                      </a:r>
                      <a:endParaRPr sz="1200" u="none" strike="noStrike" cap="none"/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"/>
                        <a:buNone/>
                      </a:pPr>
                      <a:endParaRPr sz="9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Google Shape;37;p18"/>
          <p:cNvGraphicFramePr/>
          <p:nvPr/>
        </p:nvGraphicFramePr>
        <p:xfrm>
          <a:off x="8956114" y="63502"/>
          <a:ext cx="3117375" cy="24607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155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화면ID</a:t>
                      </a:r>
                      <a:endParaRPr sz="1200" u="none" strike="noStrike" cap="none"/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Gulim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94">
          <p15:clr>
            <a:srgbClr val="FBAE40"/>
          </p15:clr>
        </p15:guide>
        <p15:guide id="2" pos="44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Malgun Gothic"/>
              <a:buNone/>
            </a:pPr>
            <a:r>
              <a:rPr lang="en-US" sz="5400"/>
              <a:t>횡단보도, 신호등 설치 현황 및 보행 안전 대시보드</a:t>
            </a:r>
            <a:endParaRPr/>
          </a:p>
        </p:txBody>
      </p:sp>
      <p:sp>
        <p:nvSpPr>
          <p:cNvPr id="48" name="Google Shape;48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BE : 황성훈</a:t>
            </a:r>
            <a:endParaRPr/>
          </a:p>
          <a:p>
            <a:pPr marL="0" lvl="0" indent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FE : 김유찬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활용 데이터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출처</a:t>
            </a:r>
            <a:r>
              <a:rPr lang="en-US" dirty="0"/>
              <a:t> : </a:t>
            </a:r>
            <a:r>
              <a:rPr lang="en-US" dirty="0" err="1"/>
              <a:t>공공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</a:t>
            </a:r>
            <a:r>
              <a:rPr lang="en-US" dirty="0" err="1"/>
              <a:t>포털</a:t>
            </a:r>
            <a:r>
              <a:rPr lang="en-US" dirty="0"/>
              <a:t>, </a:t>
            </a:r>
            <a:r>
              <a:rPr lang="en-US" dirty="0" err="1"/>
              <a:t>한국도로교통공단</a:t>
            </a:r>
            <a:r>
              <a:rPr lang="en-US" dirty="0"/>
              <a:t> </a:t>
            </a:r>
            <a:r>
              <a:rPr lang="en-US" dirty="0" err="1"/>
              <a:t>교통사고분석시스템</a:t>
            </a:r>
            <a:endParaRPr dirty="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내용</a:t>
            </a:r>
            <a:r>
              <a:rPr lang="en-US" dirty="0"/>
              <a:t> : </a:t>
            </a:r>
            <a:r>
              <a:rPr lang="en-US" dirty="0" err="1"/>
              <a:t>전국</a:t>
            </a:r>
            <a:r>
              <a:rPr lang="en-US" dirty="0"/>
              <a:t> </a:t>
            </a:r>
            <a:r>
              <a:rPr lang="en-US" dirty="0" err="1"/>
              <a:t>횡단보도</a:t>
            </a:r>
            <a:r>
              <a:rPr lang="en-US" dirty="0"/>
              <a:t>, </a:t>
            </a:r>
            <a:r>
              <a:rPr lang="en-US" dirty="0" err="1"/>
              <a:t>신호등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 및 </a:t>
            </a:r>
            <a:r>
              <a:rPr lang="en-US" dirty="0" err="1"/>
              <a:t>법정동코드</a:t>
            </a:r>
            <a:r>
              <a:rPr lang="en-US" dirty="0"/>
              <a:t>, </a:t>
            </a:r>
            <a:r>
              <a:rPr lang="en-US" dirty="0" err="1"/>
              <a:t>보행자</a:t>
            </a:r>
            <a:r>
              <a:rPr lang="en-US" dirty="0"/>
              <a:t> </a:t>
            </a:r>
            <a:r>
              <a:rPr lang="en-US" dirty="0" err="1"/>
              <a:t>사고</a:t>
            </a:r>
            <a:r>
              <a:rPr lang="en-US" dirty="0"/>
              <a:t> </a:t>
            </a:r>
            <a:r>
              <a:rPr lang="en-US" dirty="0" err="1"/>
              <a:t>데이터</a:t>
            </a:r>
            <a:r>
              <a:rPr lang="en-US" dirty="0"/>
              <a:t>, </a:t>
            </a:r>
            <a:r>
              <a:rPr lang="en-US" dirty="0" err="1"/>
              <a:t>보행자</a:t>
            </a:r>
            <a:r>
              <a:rPr lang="en-US" dirty="0"/>
              <a:t> </a:t>
            </a:r>
            <a:r>
              <a:rPr lang="en-US" dirty="0" err="1"/>
              <a:t>사고</a:t>
            </a:r>
            <a:r>
              <a:rPr lang="en-US" dirty="0"/>
              <a:t> </a:t>
            </a:r>
            <a:r>
              <a:rPr lang="en-US" dirty="0" err="1"/>
              <a:t>다발</a:t>
            </a:r>
            <a:r>
              <a:rPr lang="en-US" dirty="0"/>
              <a:t> </a:t>
            </a:r>
            <a:r>
              <a:rPr lang="en-US" dirty="0" err="1"/>
              <a:t>지역</a:t>
            </a:r>
            <a:r>
              <a:rPr lang="en-US" dirty="0"/>
              <a:t> </a:t>
            </a:r>
            <a:r>
              <a:rPr lang="en-US" dirty="0" err="1"/>
              <a:t>데이터</a:t>
            </a:r>
            <a:endParaRPr dirty="0"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주요</a:t>
            </a:r>
            <a:r>
              <a:rPr lang="en-US" dirty="0"/>
              <a:t> </a:t>
            </a:r>
            <a:r>
              <a:rPr lang="en-US" dirty="0" err="1"/>
              <a:t>컨텐츠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전국횡단보도표준데이터</a:t>
            </a:r>
            <a:r>
              <a:rPr lang="en-US" dirty="0"/>
              <a:t> 및 </a:t>
            </a:r>
            <a:r>
              <a:rPr lang="en-US" dirty="0" err="1"/>
              <a:t>전국신호등표준데이터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시도</a:t>
            </a:r>
            <a:r>
              <a:rPr lang="en-US" dirty="0"/>
              <a:t> </a:t>
            </a:r>
            <a:r>
              <a:rPr lang="en-US" dirty="0" err="1"/>
              <a:t>시군구별</a:t>
            </a:r>
            <a:r>
              <a:rPr lang="en-US" dirty="0"/>
              <a:t> </a:t>
            </a:r>
            <a:r>
              <a:rPr lang="en-US" dirty="0" err="1"/>
              <a:t>월별</a:t>
            </a:r>
            <a:r>
              <a:rPr lang="en-US" dirty="0"/>
              <a:t> </a:t>
            </a:r>
            <a:r>
              <a:rPr lang="en-US" dirty="0" err="1"/>
              <a:t>보행자</a:t>
            </a:r>
            <a:r>
              <a:rPr lang="en-US" dirty="0"/>
              <a:t> </a:t>
            </a:r>
            <a:r>
              <a:rPr lang="en-US" dirty="0" err="1"/>
              <a:t>교통사고</a:t>
            </a:r>
            <a:endParaRPr dirty="0"/>
          </a:p>
          <a:p>
            <a:pPr marL="68580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보행자</a:t>
            </a:r>
            <a:r>
              <a:rPr lang="en-US" dirty="0"/>
              <a:t> </a:t>
            </a:r>
            <a:r>
              <a:rPr lang="en-US" dirty="0" err="1"/>
              <a:t>교통사고</a:t>
            </a:r>
            <a:r>
              <a:rPr lang="en-US" dirty="0"/>
              <a:t> </a:t>
            </a:r>
            <a:r>
              <a:rPr lang="en-US" dirty="0" err="1"/>
              <a:t>다발지역</a:t>
            </a:r>
            <a:r>
              <a:rPr lang="en-US" dirty="0"/>
              <a:t> </a:t>
            </a:r>
            <a:r>
              <a:rPr lang="en-US" dirty="0" err="1"/>
              <a:t>정보</a:t>
            </a:r>
            <a:endParaRPr dirty="0"/>
          </a:p>
          <a:p>
            <a:pPr marL="685800" lvl="1" indent="-8763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기능 정의</a:t>
            </a:r>
            <a:endParaRPr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로그인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건의게시판 기능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교통사고 건수에 따라 히트맵 지도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시도, 시군구별 월별 교통사고 그래프</a:t>
            </a:r>
            <a:endParaRPr/>
          </a:p>
          <a:p>
            <a:pPr marL="228600" lvl="0" indent="-1651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횡반보도 신호등 설치율, 사고 감소율, 안전 지수 KPI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시스템 구성</a:t>
            </a:r>
            <a:endParaRPr/>
          </a:p>
        </p:txBody>
      </p:sp>
      <p:pic>
        <p:nvPicPr>
          <p:cNvPr id="66" name="Google Shape;66;p4" title="syste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00" y="1836450"/>
            <a:ext cx="11267326" cy="44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/>
              <a:t>화면 설계서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88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 dirty="0"/>
              <a:t>/ : </a:t>
            </a:r>
            <a:r>
              <a:rPr lang="ko-KR" altLang="en-US" sz="1000" dirty="0"/>
              <a:t>홈 화면</a:t>
            </a:r>
            <a:endParaRPr dirty="0"/>
          </a:p>
        </p:txBody>
      </p:sp>
      <p:graphicFrame>
        <p:nvGraphicFramePr>
          <p:cNvPr id="77" name="Google Shape;77;p6"/>
          <p:cNvGraphicFramePr/>
          <p:nvPr>
            <p:extLst>
              <p:ext uri="{D42A27DB-BD31-4B8C-83A1-F6EECF244321}">
                <p14:modId xmlns:p14="http://schemas.microsoft.com/office/powerpoint/2010/main" val="4183555305"/>
              </p:ext>
            </p:extLst>
          </p:nvPr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 제목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기술 스택 디스플레이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여부에 따른 헤더 변경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각 홈페이지 이동에 따른 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Rest API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PedSafe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 바로가기 버튼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대시보드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건의 게시판 클릭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 dirty="0"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각 항목에 대응하는 주소로 이동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8" name="Google Shape;78;p6"/>
          <p:cNvSpPr txBox="1"/>
          <p:nvPr/>
        </p:nvSpPr>
        <p:spPr>
          <a:xfrm>
            <a:off x="5770804" y="70517"/>
            <a:ext cx="3098876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ko-KR" alt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</a:t>
            </a:r>
            <a:endParaRPr dirty="0"/>
          </a:p>
        </p:txBody>
      </p:sp>
      <p:sp>
        <p:nvSpPr>
          <p:cNvPr id="79" name="Google Shape;79;p6"/>
          <p:cNvSpPr txBox="1"/>
          <p:nvPr/>
        </p:nvSpPr>
        <p:spPr>
          <a:xfrm>
            <a:off x="10523913" y="70517"/>
            <a:ext cx="1540811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ID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BE398D-3F77-4CBC-B2EF-DAF3B92E0EC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64666" y="2647483"/>
            <a:ext cx="3780000" cy="414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4529B5-A8F8-46C7-B95A-920D4A12C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000" y="719270"/>
            <a:ext cx="4394564" cy="315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792315-C65D-4443-92FD-83B2708C9023}"/>
              </a:ext>
            </a:extLst>
          </p:cNvPr>
          <p:cNvSpPr txBox="1"/>
          <p:nvPr/>
        </p:nvSpPr>
        <p:spPr>
          <a:xfrm>
            <a:off x="6640945" y="1105018"/>
            <a:ext cx="195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미로그인 시 헤더 부분</a:t>
            </a:r>
          </a:p>
        </p:txBody>
      </p:sp>
      <p:pic>
        <p:nvPicPr>
          <p:cNvPr id="81" name="Google Shape;8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6561" y="1542604"/>
            <a:ext cx="3780000" cy="41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525" y="454524"/>
            <a:ext cx="3778931" cy="41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body" idx="4294967295"/>
          </p:nvPr>
        </p:nvSpPr>
        <p:spPr>
          <a:xfrm>
            <a:off x="1283277" y="70517"/>
            <a:ext cx="3238847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 dirty="0"/>
              <a:t>Signup : </a:t>
            </a:r>
            <a:r>
              <a:rPr lang="en-US" sz="1000" dirty="0" err="1"/>
              <a:t>회원가입</a:t>
            </a:r>
            <a:endParaRPr dirty="0"/>
          </a:p>
        </p:txBody>
      </p:sp>
      <p:graphicFrame>
        <p:nvGraphicFramePr>
          <p:cNvPr id="95" name="Google Shape;95;p7"/>
          <p:cNvGraphicFramePr/>
          <p:nvPr>
            <p:extLst>
              <p:ext uri="{D42A27DB-BD31-4B8C-83A1-F6EECF244321}">
                <p14:modId xmlns:p14="http://schemas.microsoft.com/office/powerpoint/2010/main" val="4258952537"/>
              </p:ext>
            </p:extLst>
          </p:nvPr>
        </p:nvGraphicFramePr>
        <p:xfrm>
          <a:off x="8962892" y="405819"/>
          <a:ext cx="3101850" cy="4237024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이용을 위한 회원 가입 </a:t>
                      </a: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가입에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필요한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lang="en-US"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 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사용자명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endParaRPr lang="en-US"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확인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유효성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검사</a:t>
                      </a:r>
                      <a:b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영문+숫자@영문+숫자.영문+숫자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유효성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검사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영문,숫자,특수문자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포함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공백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8~20자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38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Request로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회원정보를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받아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데이터베이스에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회원정보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 존재하는 회원정보의 경우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경고 알림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861395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</a:t>
                      </a:r>
                      <a:b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가입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</a:t>
                      </a:r>
                      <a:endParaRPr dirty="0"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endParaRPr dirty="0"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6" name="Google Shape;96;p7"/>
          <p:cNvSpPr txBox="1"/>
          <p:nvPr/>
        </p:nvSpPr>
        <p:spPr>
          <a:xfrm>
            <a:off x="5770703" y="70517"/>
            <a:ext cx="3117375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0513808" y="61859"/>
            <a:ext cx="1550917" cy="24605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Users-01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229699-EB82-47C7-80F0-75773F6F9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48" y="633600"/>
            <a:ext cx="5161151" cy="5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4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body" idx="4294967295"/>
          </p:nvPr>
        </p:nvSpPr>
        <p:spPr>
          <a:xfrm>
            <a:off x="1283277" y="70517"/>
            <a:ext cx="3238847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 dirty="0" err="1"/>
              <a:t>Signin</a:t>
            </a:r>
            <a:r>
              <a:rPr lang="en-US" sz="1000" dirty="0"/>
              <a:t> : </a:t>
            </a:r>
            <a:r>
              <a:rPr lang="ko-KR" altLang="en-US" sz="1000" dirty="0"/>
              <a:t>로그인</a:t>
            </a:r>
            <a:endParaRPr dirty="0"/>
          </a:p>
        </p:txBody>
      </p:sp>
      <p:graphicFrame>
        <p:nvGraphicFramePr>
          <p:cNvPr id="95" name="Google Shape;95;p7"/>
          <p:cNvGraphicFramePr/>
          <p:nvPr>
            <p:extLst>
              <p:ext uri="{D42A27DB-BD31-4B8C-83A1-F6EECF244321}">
                <p14:modId xmlns:p14="http://schemas.microsoft.com/office/powerpoint/2010/main" val="1340716738"/>
              </p:ext>
            </p:extLst>
          </p:nvPr>
        </p:nvGraphicFramePr>
        <p:xfrm>
          <a:off x="8962892" y="405819"/>
          <a:ext cx="3101850" cy="3914404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이용을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위한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필요한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 폼 공백 여부 확인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OAuth2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 다양한 플랫폼으로 로그인</a:t>
                      </a: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38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Request로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회원정보를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받아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데이터베이스에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 유효한지 확인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OAuth2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 로그인할 경우 해당 회원정보 저장</a:t>
                      </a:r>
                      <a:endParaRPr lang="en-US" altLang="ko-KR"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회원정보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provider,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provider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권한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55738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</a:t>
                      </a:r>
                      <a:r>
                        <a:rPr lang="en-US" sz="9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</a:t>
                      </a:r>
                      <a:endParaRPr sz="900" b="1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</a:t>
                      </a:r>
                      <a:r>
                        <a:rPr 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클릭</a:t>
                      </a:r>
                      <a:endParaRPr dirty="0"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sym typeface="Malgun Gothic"/>
                        </a:rPr>
                        <a:t>홈 화면</a:t>
                      </a:r>
                      <a:endParaRPr dirty="0"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6" name="Google Shape;96;p7"/>
          <p:cNvSpPr txBox="1"/>
          <p:nvPr/>
        </p:nvSpPr>
        <p:spPr>
          <a:xfrm>
            <a:off x="5770703" y="70517"/>
            <a:ext cx="3117375" cy="23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0513808" y="61859"/>
            <a:ext cx="1550917" cy="24605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Users-01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C0ADF-3776-4ECC-A34E-45D4F286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48" y="633600"/>
            <a:ext cx="5161151" cy="559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/>
              <a:t>Dashboard: </a:t>
            </a:r>
            <a:r>
              <a:rPr lang="ko-KR" altLang="en-US" sz="1000" dirty="0"/>
              <a:t>대시보드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>
            <p:extLst>
              <p:ext uri="{D42A27DB-BD31-4B8C-83A1-F6EECF244321}">
                <p14:modId xmlns:p14="http://schemas.microsoft.com/office/powerpoint/2010/main" val="2253975813"/>
              </p:ext>
            </p:extLst>
          </p:nvPr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횡단보도 개수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신호등 </a:t>
                      </a:r>
                      <a:r>
                        <a:rPr lang="ko-KR" altLang="en-US" sz="900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설치율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안전 지수</a:t>
                      </a:r>
                      <a:r>
                        <a:rPr lang="en-US" altLang="ko-KR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900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 지수</a:t>
                      </a: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50" dirty="0"/>
              <a:t>KPI </a:t>
            </a:r>
            <a:r>
              <a:rPr lang="ko-KR" altLang="en-US" sz="1050" dirty="0"/>
              <a:t>카드</a:t>
            </a:r>
            <a:endParaRPr sz="1050" dirty="0"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dashboard1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21348-1A48-475C-ACB6-B224D4A4C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15" y="2055102"/>
            <a:ext cx="7914443" cy="1468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/>
              <a:t>Dashboard: </a:t>
            </a:r>
            <a:r>
              <a:rPr lang="ko-KR" altLang="en-US" sz="1000" dirty="0"/>
              <a:t>대시보드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ko-KR" altLang="en-US" sz="1050" dirty="0"/>
              <a:t>지역 선택</a:t>
            </a:r>
            <a:endParaRPr sz="1050" dirty="0"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dashboard2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7BA972-7621-4E2E-A2F3-781401E28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109" y="2557462"/>
            <a:ext cx="245745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3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/>
              <a:t>Dashboard: </a:t>
            </a:r>
            <a:r>
              <a:rPr lang="ko-KR" altLang="en-US" sz="1000" dirty="0"/>
              <a:t>대시보드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</a:t>
            </a:r>
            <a:endParaRPr dirty="0"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Dashboard3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7EC444-576E-4A21-B777-D868B33C0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06" y="453358"/>
            <a:ext cx="786765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2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/>
              <a:t>Dashboard: </a:t>
            </a:r>
            <a:r>
              <a:rPr lang="ko-KR" altLang="en-US" sz="1000" dirty="0"/>
              <a:t>대시보드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Crosswalk</a:t>
            </a:r>
            <a:r>
              <a:rPr lang="ko-KR" altLang="en-US" sz="10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 </a:t>
            </a:r>
            <a:r>
              <a:rPr lang="en-US" altLang="ko-KR" sz="1000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detail</a:t>
            </a:r>
            <a:endParaRPr dirty="0"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dashboard4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4083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 err="1"/>
              <a:t>pedacc</a:t>
            </a:r>
            <a:r>
              <a:rPr lang="en-US" altLang="ko-KR" sz="1000" dirty="0"/>
              <a:t>: </a:t>
            </a:r>
            <a:r>
              <a:rPr lang="ko-KR" altLang="en-US" sz="1000" dirty="0"/>
              <a:t>보행자사고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텍스트를 입력하세요</a:t>
            </a:r>
            <a:endParaRPr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pedacc1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5538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 err="1"/>
              <a:t>pedacc</a:t>
            </a:r>
            <a:r>
              <a:rPr lang="en-US" altLang="ko-KR" sz="1000" dirty="0"/>
              <a:t>: </a:t>
            </a:r>
            <a:r>
              <a:rPr lang="ko-KR" altLang="en-US" sz="1000" dirty="0"/>
              <a:t>보행자사고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텍스트를 입력하세요</a:t>
            </a:r>
            <a:endParaRPr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pedacc1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6265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 err="1"/>
              <a:t>pedacc</a:t>
            </a:r>
            <a:r>
              <a:rPr lang="en-US" altLang="ko-KR" sz="1000" dirty="0"/>
              <a:t>: </a:t>
            </a:r>
            <a:r>
              <a:rPr lang="ko-KR" altLang="en-US" sz="1000" dirty="0"/>
              <a:t>보행자사고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텍스트를 입력하세요</a:t>
            </a:r>
            <a:endParaRPr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pedacc1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48072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 err="1"/>
              <a:t>pedacc</a:t>
            </a:r>
            <a:r>
              <a:rPr lang="en-US" altLang="ko-KR" sz="1000" dirty="0"/>
              <a:t>: </a:t>
            </a:r>
            <a:r>
              <a:rPr lang="ko-KR" altLang="en-US" sz="1000" dirty="0"/>
              <a:t>보행자사고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텍스트를 입력하세요</a:t>
            </a:r>
            <a:endParaRPr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pedacc1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42129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3b95ff52_0_1"/>
          <p:cNvSpPr txBox="1">
            <a:spLocks noGrp="1"/>
          </p:cNvSpPr>
          <p:nvPr>
            <p:ph type="body" idx="4294967295"/>
          </p:nvPr>
        </p:nvSpPr>
        <p:spPr>
          <a:xfrm>
            <a:off x="1330037" y="70517"/>
            <a:ext cx="3192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altLang="ko-KR" sz="1000" dirty="0" err="1"/>
              <a:t>pedacc</a:t>
            </a:r>
            <a:r>
              <a:rPr lang="en-US" altLang="ko-KR" sz="1000" dirty="0"/>
              <a:t>: </a:t>
            </a:r>
            <a:r>
              <a:rPr lang="ko-KR" altLang="en-US" sz="1000" dirty="0"/>
              <a:t>보행자사고</a:t>
            </a:r>
            <a:endParaRPr dirty="0"/>
          </a:p>
        </p:txBody>
      </p:sp>
      <p:graphicFrame>
        <p:nvGraphicFramePr>
          <p:cNvPr id="87" name="Google Shape;87;g3b33b95ff52_0_1"/>
          <p:cNvGraphicFramePr/>
          <p:nvPr/>
        </p:nvGraphicFramePr>
        <p:xfrm>
          <a:off x="8962892" y="405819"/>
          <a:ext cx="3101850" cy="4599125"/>
        </p:xfrm>
        <a:graphic>
          <a:graphicData uri="http://schemas.openxmlformats.org/drawingml/2006/table">
            <a:tbl>
              <a:tblPr>
                <a:noFill/>
                <a:tableStyleId>{8494380D-7AE9-4E8F-AD6B-7CFE7C23461D}</a:tableStyleId>
              </a:tblPr>
              <a:tblGrid>
                <a:gridCol w="31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상세 설명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75"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</a:t>
                      </a:r>
                      <a:endParaRPr sz="9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481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425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</a:t>
                      </a:r>
                      <a:endParaRPr sz="9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4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5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인터페이스 요구사항</a:t>
                      </a:r>
                      <a:endParaRPr sz="900" b="1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출력</a:t>
                      </a:r>
                      <a:endParaRPr/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1175" marR="31175" marT="31175" marB="3117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" name="Google Shape;88;g3b33b95ff52_0_1"/>
          <p:cNvSpPr txBox="1"/>
          <p:nvPr/>
        </p:nvSpPr>
        <p:spPr>
          <a:xfrm>
            <a:off x="5770804" y="70517"/>
            <a:ext cx="30990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텍스트를 입력하세요</a:t>
            </a:r>
            <a:endParaRPr/>
          </a:p>
        </p:txBody>
      </p:sp>
      <p:sp>
        <p:nvSpPr>
          <p:cNvPr id="89" name="Google Shape;89;g3b33b95ff52_0_1"/>
          <p:cNvSpPr txBox="1"/>
          <p:nvPr/>
        </p:nvSpPr>
        <p:spPr>
          <a:xfrm>
            <a:off x="10523913" y="70517"/>
            <a:ext cx="1540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pedacc1</a:t>
            </a: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00831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/>
              <a:t>REST API 명세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REST API 명세 목록</a:t>
            </a:r>
            <a:endParaRPr/>
          </a:p>
        </p:txBody>
      </p:sp>
      <p:graphicFrame>
        <p:nvGraphicFramePr>
          <p:cNvPr id="110" name="Google Shape;110;p9"/>
          <p:cNvGraphicFramePr/>
          <p:nvPr/>
        </p:nvGraphicFramePr>
        <p:xfrm>
          <a:off x="1098745" y="1813175"/>
          <a:ext cx="10515625" cy="4079350"/>
        </p:xfrm>
        <a:graphic>
          <a:graphicData uri="http://schemas.openxmlformats.org/drawingml/2006/table">
            <a:tbl>
              <a:tblPr firstRow="1" bandRow="1">
                <a:noFill/>
                <a:tableStyleId>{95CC03B4-4BE6-418C-813A-44F4487CB819}</a:tableStyleId>
              </a:tblPr>
              <a:tblGrid>
                <a:gridCol w="65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Index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Method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URI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설명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화면ID</a:t>
                      </a: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POST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/auth/signin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회원가입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Users-01</a:t>
                      </a: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POST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/api/v1/login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로그인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Login-01</a:t>
                      </a: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REST API 상세 명세</a:t>
            </a:r>
            <a:endParaRPr/>
          </a:p>
        </p:txBody>
      </p:sp>
      <p:graphicFrame>
        <p:nvGraphicFramePr>
          <p:cNvPr id="116" name="Google Shape;116;p10"/>
          <p:cNvGraphicFramePr/>
          <p:nvPr/>
        </p:nvGraphicFramePr>
        <p:xfrm>
          <a:off x="1098745" y="1813175"/>
          <a:ext cx="10515625" cy="741700"/>
        </p:xfrm>
        <a:graphic>
          <a:graphicData uri="http://schemas.openxmlformats.org/drawingml/2006/table">
            <a:tbl>
              <a:tblPr firstRow="1" bandRow="1">
                <a:noFill/>
                <a:tableStyleId>{95CC03B4-4BE6-418C-813A-44F4487CB819}</a:tableStyleId>
              </a:tblPr>
              <a:tblGrid>
                <a:gridCol w="65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Index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Method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URI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설명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화면ID</a:t>
                      </a: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POST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/api/v1/login</a:t>
                      </a: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로그인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7" name="Google Shape;117;p10"/>
          <p:cNvGraphicFramePr/>
          <p:nvPr/>
        </p:nvGraphicFramePr>
        <p:xfrm>
          <a:off x="1098744" y="2677343"/>
          <a:ext cx="10515600" cy="3756725"/>
        </p:xfrm>
        <a:graphic>
          <a:graphicData uri="http://schemas.openxmlformats.org/drawingml/2006/table">
            <a:tbl>
              <a:tblPr firstRow="1" bandRow="1">
                <a:noFill/>
                <a:tableStyleId>{60D893A1-113A-440A-A9E9-711A06FFD2ED}</a:tableStyleId>
              </a:tblPr>
              <a:tblGrid>
                <a:gridCol w="92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분류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구분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내용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비고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675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Request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Line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요청라인 (질의문자열)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Header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Body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{ “username”:”user”, “password”:”abcd”}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675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Response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Line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응답코드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Header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/>
                        <a:t>Body</a:t>
                      </a: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/>
              <a:t>Database 설계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ERD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C039C1-2C2C-4036-917C-7953F2574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313" y="1178787"/>
            <a:ext cx="7813374" cy="55194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Table 명세</a:t>
            </a:r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ERD 테이블 구성 및 스키마 설명</a:t>
            </a:r>
            <a:endParaRPr/>
          </a:p>
        </p:txBody>
      </p:sp>
      <p:graphicFrame>
        <p:nvGraphicFramePr>
          <p:cNvPr id="135" name="Google Shape;135;p13"/>
          <p:cNvGraphicFramePr/>
          <p:nvPr/>
        </p:nvGraphicFramePr>
        <p:xfrm>
          <a:off x="1073805" y="2549450"/>
          <a:ext cx="8992900" cy="2595950"/>
        </p:xfrm>
        <a:graphic>
          <a:graphicData uri="http://schemas.openxmlformats.org/drawingml/2006/table">
            <a:tbl>
              <a:tblPr firstRow="1" bandRow="1">
                <a:noFill/>
                <a:tableStyleId>{5F6791DC-5017-4400-B032-68944D555E09}</a:tableStyleId>
              </a:tblPr>
              <a:tblGrid>
                <a:gridCol w="162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테이블 명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container</a:t>
                      </a:r>
                      <a:endParaRPr sz="1200"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테이블 설명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컨테이너 정보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컬럼명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타입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길이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Not Null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Key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Default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설명</a:t>
                      </a:r>
                      <a:endParaRPr sz="1200"/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CONTAINERID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int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16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O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</a:rPr>
                        <a:t>PK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""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컨테이너식별자(차량번호)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DRIVERNAME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char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32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""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운전자이름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DRIVERPHONE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char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32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""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운전자연락처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COMMENT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varchar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128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""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컨테이너 정보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ISEALID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char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11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O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FK　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""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/>
                        <a:t>연결된 iseal 식별자</a:t>
                      </a:r>
                      <a:endParaRPr sz="1100" b="0" i="0" u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692</Words>
  <Application>Microsoft Office PowerPoint</Application>
  <PresentationFormat>와이드스크린</PresentationFormat>
  <Paragraphs>330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Gulim</vt:lpstr>
      <vt:lpstr>Malgun Gothic</vt:lpstr>
      <vt:lpstr>Arial</vt:lpstr>
      <vt:lpstr>Office 테마</vt:lpstr>
      <vt:lpstr>횡단보도, 신호등 설치 현황 및 보행 안전 대시보드</vt:lpstr>
      <vt:lpstr>활용 데이터</vt:lpstr>
      <vt:lpstr>기능 정의</vt:lpstr>
      <vt:lpstr>시스템 구성</vt:lpstr>
      <vt:lpstr>화면 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REST API 명세</vt:lpstr>
      <vt:lpstr>REST API 명세 목록</vt:lpstr>
      <vt:lpstr>REST API 상세 명세</vt:lpstr>
      <vt:lpstr>Database 설계</vt:lpstr>
      <vt:lpstr>ERD</vt:lpstr>
      <vt:lpstr>Table 명세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횡단보도, 신호등 설치 현황 및 보행 안전 대시보드</dc:title>
  <dc:creator>김경민</dc:creator>
  <cp:lastModifiedBy>user</cp:lastModifiedBy>
  <cp:revision>13</cp:revision>
  <dcterms:created xsi:type="dcterms:W3CDTF">2023-11-14T00:10:21Z</dcterms:created>
  <dcterms:modified xsi:type="dcterms:W3CDTF">2026-01-21T07:53:56Z</dcterms:modified>
</cp:coreProperties>
</file>