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8"/>
    <p:sldId id="263" r:id="rId9"/>
    <p:sldId id="262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0" roundtripDataSignature="AMtx7miDCxK2ZXgnnNZVs5wxL2S5y01F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94380D-7AE9-4E8F-AD6B-7CFE7C23461D}">
  <a:tblStyle styleId="{8494380D-7AE9-4E8F-AD6B-7CFE7C23461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5CC03B4-4BE6-418C-813A-44F4487CB819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0D893A1-113A-440A-A9E9-711A06FFD2ED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254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E8EBF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/>
      <a:tcStyle>
        <a:tcBdr/>
        <a:fill>
          <a:solidFill>
            <a:srgbClr val="E8EBF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5F6791DC-5017-4400-B032-68944D555E09}" styleName="Table_3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70487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b33b95ff52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g3b33b95ff52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>
  <p:cSld name="빈화면+상세설명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Google Shape;34;p18"/>
          <p:cNvGraphicFramePr/>
          <p:nvPr/>
        </p:nvGraphicFramePr>
        <p:xfrm>
          <a:off x="8956086" y="393703"/>
          <a:ext cx="3117375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5" name="Google Shape;35;p18"/>
          <p:cNvGraphicFramePr/>
          <p:nvPr/>
        </p:nvGraphicFramePr>
        <p:xfrm>
          <a:off x="93140" y="393705"/>
          <a:ext cx="8799100" cy="63928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8799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 marT="45725" marB="457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6" name="Google Shape;36;p18"/>
          <p:cNvGraphicFramePr/>
          <p:nvPr/>
        </p:nvGraphicFramePr>
        <p:xfrm>
          <a:off x="95025" y="71427"/>
          <a:ext cx="879722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22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작업명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9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7" name="Google Shape;37;p18"/>
          <p:cNvGraphicFramePr/>
          <p:nvPr/>
        </p:nvGraphicFramePr>
        <p:xfrm>
          <a:off x="8956114" y="63502"/>
          <a:ext cx="3117375" cy="24607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155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8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화면ID</a:t>
                      </a:r>
                      <a:endParaRPr sz="1200" u="none" strike="noStrike" cap="none"/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marT="45725" marB="457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Malgun Gothic"/>
              <a:buNone/>
            </a:pPr>
            <a:r>
              <a:rPr lang="en-US" sz="5400"/>
              <a:t>횡단보도, 신호등 설치 현황 및 보행 안전 대시보드</a:t>
            </a:r>
            <a:endParaRPr/>
          </a:p>
        </p:txBody>
      </p:sp>
      <p:sp>
        <p:nvSpPr>
          <p:cNvPr id="48" name="Google Shape;48;p1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BE : 황성훈</a:t>
            </a:r>
            <a:endParaRPr/>
          </a:p>
          <a:p>
            <a:pPr marL="0" lvl="0" indent="0" algn="ctr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/>
              <a:t>FE : 김유찬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활용 데이터</a:t>
            </a: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출처</a:t>
            </a:r>
            <a:r>
              <a:rPr lang="en-US" dirty="0"/>
              <a:t> : </a:t>
            </a:r>
            <a:r>
              <a:rPr lang="en-US" dirty="0" err="1"/>
              <a:t>공공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포털</a:t>
            </a:r>
            <a:r>
              <a:rPr lang="en-US" dirty="0"/>
              <a:t>, </a:t>
            </a:r>
            <a:r>
              <a:rPr lang="en-US" dirty="0" err="1"/>
              <a:t>한국도로교통공단</a:t>
            </a:r>
            <a:r>
              <a:rPr lang="en-US" dirty="0"/>
              <a:t> </a:t>
            </a:r>
            <a:r>
              <a:rPr lang="en-US" dirty="0" err="1"/>
              <a:t>교통사고분석시스템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내용</a:t>
            </a:r>
            <a:r>
              <a:rPr lang="en-US" dirty="0"/>
              <a:t> : </a:t>
            </a:r>
            <a:r>
              <a:rPr lang="en-US" dirty="0" err="1"/>
              <a:t>전국</a:t>
            </a:r>
            <a:r>
              <a:rPr lang="en-US" dirty="0"/>
              <a:t> </a:t>
            </a:r>
            <a:r>
              <a:rPr lang="en-US" dirty="0" err="1"/>
              <a:t>횡단보도</a:t>
            </a:r>
            <a:r>
              <a:rPr lang="en-US" dirty="0"/>
              <a:t>, </a:t>
            </a:r>
            <a:r>
              <a:rPr lang="en-US" dirty="0" err="1"/>
              <a:t>신호등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및 </a:t>
            </a:r>
            <a:r>
              <a:rPr lang="en-US" dirty="0" err="1"/>
              <a:t>법정동코드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,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사고</a:t>
            </a:r>
            <a:r>
              <a:rPr lang="en-US" dirty="0"/>
              <a:t> </a:t>
            </a:r>
            <a:r>
              <a:rPr lang="en-US" dirty="0" err="1"/>
              <a:t>다발</a:t>
            </a:r>
            <a:r>
              <a:rPr lang="en-US" dirty="0"/>
              <a:t> </a:t>
            </a:r>
            <a:r>
              <a:rPr lang="en-US" dirty="0" err="1"/>
              <a:t>지역</a:t>
            </a:r>
            <a:r>
              <a:rPr lang="en-US" dirty="0"/>
              <a:t> </a:t>
            </a:r>
            <a:r>
              <a:rPr lang="en-US" dirty="0" err="1"/>
              <a:t>데이터</a:t>
            </a:r>
            <a:endParaRPr dirty="0"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주요</a:t>
            </a:r>
            <a:r>
              <a:rPr lang="en-US" dirty="0"/>
              <a:t> </a:t>
            </a:r>
            <a:r>
              <a:rPr lang="en-US" dirty="0" err="1"/>
              <a:t>컨텐츠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전국횡단보도표준데이터</a:t>
            </a:r>
            <a:r>
              <a:rPr lang="en-US" dirty="0"/>
              <a:t> 및 </a:t>
            </a:r>
            <a:r>
              <a:rPr lang="en-US" dirty="0" err="1"/>
              <a:t>전국신호등표준데이터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시도</a:t>
            </a:r>
            <a:r>
              <a:rPr lang="en-US" dirty="0"/>
              <a:t> </a:t>
            </a:r>
            <a:r>
              <a:rPr lang="en-US" dirty="0" err="1"/>
              <a:t>시군구별</a:t>
            </a:r>
            <a:r>
              <a:rPr lang="en-US" dirty="0"/>
              <a:t> </a:t>
            </a:r>
            <a:r>
              <a:rPr lang="en-US" dirty="0" err="1"/>
              <a:t>월별</a:t>
            </a:r>
            <a:r>
              <a:rPr lang="en-US" dirty="0"/>
              <a:t> </a:t>
            </a: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endParaRPr dirty="0"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dirty="0" err="1"/>
              <a:t>보행자</a:t>
            </a:r>
            <a:r>
              <a:rPr lang="en-US" dirty="0"/>
              <a:t> </a:t>
            </a:r>
            <a:r>
              <a:rPr lang="en-US" dirty="0" err="1"/>
              <a:t>교통사고</a:t>
            </a:r>
            <a:r>
              <a:rPr lang="en-US" dirty="0"/>
              <a:t> </a:t>
            </a:r>
            <a:r>
              <a:rPr lang="en-US" dirty="0" err="1"/>
              <a:t>다발지역</a:t>
            </a:r>
            <a:r>
              <a:rPr lang="en-US" dirty="0"/>
              <a:t> </a:t>
            </a:r>
            <a:r>
              <a:rPr lang="en-US" dirty="0" err="1"/>
              <a:t>정보</a:t>
            </a:r>
            <a:endParaRPr dirty="0"/>
          </a:p>
          <a:p>
            <a:pPr marL="685800" lvl="1" indent="-8763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기능 정의</a:t>
            </a:r>
            <a:endParaRPr/>
          </a:p>
        </p:txBody>
      </p:sp>
      <p:sp>
        <p:nvSpPr>
          <p:cNvPr id="60" name="Google Shape;60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로그인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건의게시판 기능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교통사고 건수에 따라 히트맵 지도</a:t>
            </a:r>
            <a:endParaRPr/>
          </a:p>
          <a:p>
            <a:pPr marL="228600" lvl="0" indent="-2286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시도, 시군구별 월별 교통사고 그래프</a:t>
            </a:r>
            <a:endParaRPr/>
          </a:p>
          <a:p>
            <a:pPr marL="228600" lvl="0" indent="-1651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횡반보도 신호등 설치율, 사고 감소율, 안전 지수 KPI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시스템 구성</a:t>
            </a:r>
            <a:endParaRPr/>
          </a:p>
        </p:txBody>
      </p:sp>
      <p:pic>
        <p:nvPicPr>
          <p:cNvPr id="66" name="Google Shape;66;p4" title="system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600" y="1836450"/>
            <a:ext cx="11267326" cy="442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화면 설계서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6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88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/ : </a:t>
            </a:r>
            <a:r>
              <a:rPr lang="ko-KR" altLang="en-US" sz="1000" dirty="0"/>
              <a:t>홈 화면</a:t>
            </a:r>
            <a:endParaRPr dirty="0"/>
          </a:p>
        </p:txBody>
      </p:sp>
      <p:graphicFrame>
        <p:nvGraphicFramePr>
          <p:cNvPr id="77" name="Google Shape;77;p6"/>
          <p:cNvGraphicFramePr/>
          <p:nvPr>
            <p:extLst>
              <p:ext uri="{D42A27DB-BD31-4B8C-83A1-F6EECF244321}">
                <p14:modId xmlns:p14="http://schemas.microsoft.com/office/powerpoint/2010/main" val="4183555305"/>
              </p:ext>
            </p:extLst>
          </p:nvPr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프로젝트 제목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목적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주요 기능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기술 스택 디스플레이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여부에 따른 헤더 변경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홈페이지 이동에 따른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Rest API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PedSafe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 바로가기 버튼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회원가입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대시보드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건의 게시판 클릭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각 항목에 대응하는 주소로 이동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8" name="Google Shape;78;p6"/>
          <p:cNvSpPr txBox="1"/>
          <p:nvPr/>
        </p:nvSpPr>
        <p:spPr>
          <a:xfrm>
            <a:off x="5770804" y="70517"/>
            <a:ext cx="3098876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ko-KR" altLang="en-US" sz="1000" b="0" i="0" u="none" strike="noStrike" cap="none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홈</a:t>
            </a:r>
            <a:endParaRPr dirty="0"/>
          </a:p>
        </p:txBody>
      </p:sp>
      <p:sp>
        <p:nvSpPr>
          <p:cNvPr id="79" name="Google Shape;79;p6"/>
          <p:cNvSpPr txBox="1"/>
          <p:nvPr/>
        </p:nvSpPr>
        <p:spPr>
          <a:xfrm>
            <a:off x="10523913" y="70517"/>
            <a:ext cx="1540811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4BE398D-3F77-4CBC-B2EF-DAF3B92E0EC0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3664666" y="2647483"/>
            <a:ext cx="3780000" cy="41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64529B5-A8F8-46C7-B95A-920D4A12C1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000" y="719270"/>
            <a:ext cx="4394564" cy="3152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792315-C65D-4443-92FD-83B2708C9023}"/>
              </a:ext>
            </a:extLst>
          </p:cNvPr>
          <p:cNvSpPr txBox="1"/>
          <p:nvPr/>
        </p:nvSpPr>
        <p:spPr>
          <a:xfrm>
            <a:off x="6640945" y="1105018"/>
            <a:ext cx="19596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미로그인 시 헤더 부분</a:t>
            </a:r>
          </a:p>
        </p:txBody>
      </p:sp>
      <p:pic>
        <p:nvPicPr>
          <p:cNvPr id="81" name="Google Shape;8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16561" y="1542604"/>
            <a:ext cx="3780000" cy="414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9525" y="454524"/>
            <a:ext cx="3778931" cy="41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/>
              <a:t>Signup : </a:t>
            </a:r>
            <a:r>
              <a:rPr lang="en-US" sz="1000" dirty="0" err="1"/>
              <a:t>회원가입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4258952537"/>
              </p:ext>
            </p:extLst>
          </p:nvPr>
        </p:nvGraphicFramePr>
        <p:xfrm>
          <a:off x="8962892" y="405819"/>
          <a:ext cx="3101850" cy="423702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 이용을 위한 회원 가입 </a:t>
                      </a: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 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사용자명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lang="en-US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-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영문+숫자@영문+숫자.영문+숫자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유효성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검사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영문,숫자,특수문자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포함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공백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8~20자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 dirty="0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저장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이미 존재하는 회원정보의 경우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경고 알림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861395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확인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</a:t>
                      </a:r>
                      <a:b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</a:b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가입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페이지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7229699-EB82-47C7-80F0-75773F6F9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2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7"/>
          <p:cNvSpPr txBox="1">
            <a:spLocks noGrp="1"/>
          </p:cNvSpPr>
          <p:nvPr>
            <p:ph type="body" idx="4294967295"/>
          </p:nvPr>
        </p:nvSpPr>
        <p:spPr>
          <a:xfrm>
            <a:off x="1283277" y="70517"/>
            <a:ext cx="3238847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sz="1000" dirty="0" err="1"/>
              <a:t>Signin</a:t>
            </a:r>
            <a:r>
              <a:rPr lang="en-US" sz="1000" dirty="0"/>
              <a:t> : </a:t>
            </a:r>
            <a:r>
              <a:rPr lang="ko-KR" altLang="en-US" sz="1000" dirty="0"/>
              <a:t>로그인</a:t>
            </a:r>
            <a:endParaRPr dirty="0"/>
          </a:p>
        </p:txBody>
      </p:sp>
      <p:graphicFrame>
        <p:nvGraphicFramePr>
          <p:cNvPr id="95" name="Google Shape;95;p7"/>
          <p:cNvGraphicFramePr/>
          <p:nvPr>
            <p:extLst>
              <p:ext uri="{D42A27DB-BD31-4B8C-83A1-F6EECF244321}">
                <p14:modId xmlns:p14="http://schemas.microsoft.com/office/powerpoint/2010/main" val="1340716738"/>
              </p:ext>
            </p:extLst>
          </p:nvPr>
        </p:nvGraphicFramePr>
        <p:xfrm>
          <a:off x="8962892" y="405819"/>
          <a:ext cx="3101850" cy="3914404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서비스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이용을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위한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9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필요한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Char char="-"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 폼 공백 여부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39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다양한 플랫폼으로 로그인</a:t>
                      </a: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938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Request로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받아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데이터베이스에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 유효한지 확인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93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OAuth2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 로그인할 경우 해당 회원정보 저장</a:t>
                      </a:r>
                      <a:endParaRPr lang="en-US" altLang="ko-KR"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회원정보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: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provider,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provider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id,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권한</a:t>
                      </a:r>
                      <a:r>
                        <a:rPr lang="en-US" altLang="ko-KR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, </a:t>
                      </a:r>
                      <a:endParaRPr sz="900" dirty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55738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</a:t>
                      </a:r>
                      <a:r>
                        <a:rPr lang="en-US" sz="900" b="1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b="1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요구사항</a:t>
                      </a:r>
                      <a:endParaRPr sz="900" b="1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이메일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아이디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),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비밀번호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후 </a:t>
                      </a:r>
                      <a:r>
                        <a:rPr lang="ko-KR" alt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버튼</a:t>
                      </a:r>
                      <a:r>
                        <a:rPr lang="en-US" sz="900" dirty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900" dirty="0" err="1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클릭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latin typeface="Malgun Gothic"/>
                          <a:ea typeface="Malgun Gothic"/>
                          <a:sym typeface="Malgun Gothic"/>
                        </a:rPr>
                        <a:t>홈 화면</a:t>
                      </a:r>
                      <a:endParaRPr dirty="0"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6" name="Google Shape;96;p7"/>
          <p:cNvSpPr txBox="1"/>
          <p:nvPr/>
        </p:nvSpPr>
        <p:spPr>
          <a:xfrm>
            <a:off x="5770703" y="70517"/>
            <a:ext cx="3117375" cy="23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Users-01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B5C0ADF-3776-4ECC-A34E-45D4F2863F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1548" y="633600"/>
            <a:ext cx="5161151" cy="559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3b95ff52_0_1"/>
          <p:cNvSpPr txBox="1">
            <a:spLocks noGrp="1"/>
          </p:cNvSpPr>
          <p:nvPr>
            <p:ph type="body" idx="4294967295"/>
          </p:nvPr>
        </p:nvSpPr>
        <p:spPr>
          <a:xfrm>
            <a:off x="1330037" y="70517"/>
            <a:ext cx="3192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</a:pPr>
            <a:r>
              <a:rPr lang="en-US" altLang="ko-KR" sz="1000" dirty="0"/>
              <a:t>Dashboard: </a:t>
            </a:r>
            <a:r>
              <a:rPr lang="ko-KR" altLang="en-US" sz="1000" dirty="0"/>
              <a:t>대시보드</a:t>
            </a:r>
            <a:endParaRPr dirty="0"/>
          </a:p>
        </p:txBody>
      </p:sp>
      <p:graphicFrame>
        <p:nvGraphicFramePr>
          <p:cNvPr id="87" name="Google Shape;87;g3b33b95ff52_0_1"/>
          <p:cNvGraphicFramePr/>
          <p:nvPr/>
        </p:nvGraphicFramePr>
        <p:xfrm>
          <a:off x="8962892" y="405819"/>
          <a:ext cx="3101850" cy="4599125"/>
        </p:xfrm>
        <a:graphic>
          <a:graphicData uri="http://schemas.openxmlformats.org/drawingml/2006/table">
            <a:tbl>
              <a:tblPr>
                <a:noFill/>
                <a:tableStyleId>{8494380D-7AE9-4E8F-AD6B-7CFE7C23461D}</a:tableStyleId>
              </a:tblPr>
              <a:tblGrid>
                <a:gridCol w="31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 상세 설명</a:t>
                      </a:r>
                      <a:endParaRPr sz="900" b="1" u="none" strike="noStrike" cap="none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875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90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450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u="none" strike="noStrike" cap="none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FE</a:t>
                      </a:r>
                      <a:endParaRPr sz="900" b="1" u="none" strike="noStrike" cap="none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4813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 u="none" strike="noStrike" cap="non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4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425"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lt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BE</a:t>
                      </a:r>
                      <a:endParaRPr sz="900" b="1">
                        <a:solidFill>
                          <a:schemeClr val="lt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E75B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042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</a:t>
                      </a:r>
                      <a:endParaRPr sz="900" b="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5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인터페이스 요구사항</a:t>
                      </a:r>
                      <a:endParaRPr sz="900" b="1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8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입력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출력</a:t>
                      </a:r>
                      <a:endParaRPr/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31175" marR="31175" marT="31175" marB="3117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8" name="Google Shape;88;g3b33b95ff52_0_1"/>
          <p:cNvSpPr txBox="1"/>
          <p:nvPr/>
        </p:nvSpPr>
        <p:spPr>
          <a:xfrm>
            <a:off x="5770804" y="70517"/>
            <a:ext cx="30990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텍스트를 입력하세요</a:t>
            </a:r>
            <a:endParaRPr/>
          </a:p>
        </p:txBody>
      </p:sp>
      <p:sp>
        <p:nvSpPr>
          <p:cNvPr id="89" name="Google Shape;89;g3b33b95ff52_0_1"/>
          <p:cNvSpPr txBox="1"/>
          <p:nvPr/>
        </p:nvSpPr>
        <p:spPr>
          <a:xfrm>
            <a:off x="10523913" y="70517"/>
            <a:ext cx="15408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 ID</a:t>
            </a:r>
            <a:endParaRPr sz="10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8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REST API 명세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명세 목록</a:t>
            </a:r>
            <a:endParaRPr/>
          </a:p>
        </p:txBody>
      </p:sp>
      <p:graphicFrame>
        <p:nvGraphicFramePr>
          <p:cNvPr id="110" name="Google Shape;110;p9"/>
          <p:cNvGraphicFramePr/>
          <p:nvPr/>
        </p:nvGraphicFramePr>
        <p:xfrm>
          <a:off x="1098745" y="1813175"/>
          <a:ext cx="10515625" cy="407935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/auth/signin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회원가입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Users-01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2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Login-01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3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4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5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6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7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8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9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10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REST API 상세 명세</a:t>
            </a:r>
            <a:endParaRPr/>
          </a:p>
        </p:txBody>
      </p:sp>
      <p:graphicFrame>
        <p:nvGraphicFramePr>
          <p:cNvPr id="116" name="Google Shape;116;p10"/>
          <p:cNvGraphicFramePr/>
          <p:nvPr/>
        </p:nvGraphicFramePr>
        <p:xfrm>
          <a:off x="1098745" y="1813175"/>
          <a:ext cx="10515625" cy="741700"/>
        </p:xfrm>
        <a:graphic>
          <a:graphicData uri="http://schemas.openxmlformats.org/drawingml/2006/table">
            <a:tbl>
              <a:tblPr firstRow="1" bandRow="1">
                <a:noFill/>
                <a:tableStyleId>{95CC03B4-4BE6-418C-813A-44F4487CB819}</a:tableStyleId>
              </a:tblPr>
              <a:tblGrid>
                <a:gridCol w="65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9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Index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Method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URI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설명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화면ID</a:t>
                      </a: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1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POST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/api/v1/login</a:t>
                      </a:r>
                      <a:endParaRPr sz="120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로그인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17" name="Google Shape;117;p10"/>
          <p:cNvGraphicFramePr/>
          <p:nvPr/>
        </p:nvGraphicFramePr>
        <p:xfrm>
          <a:off x="1098744" y="2677343"/>
          <a:ext cx="10515600" cy="3756725"/>
        </p:xfrm>
        <a:graphic>
          <a:graphicData uri="http://schemas.openxmlformats.org/drawingml/2006/table">
            <a:tbl>
              <a:tblPr firstRow="1" bandRow="1">
                <a:noFill/>
                <a:tableStyleId>{60D893A1-113A-440A-A9E9-711A06FFD2ED}</a:tableStyleId>
              </a:tblPr>
              <a:tblGrid>
                <a:gridCol w="92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4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83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96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66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분류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구분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내용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비고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Request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요청라인 (질의문자열)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{ “username”:”user”, “password”:”abcd”}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675">
                <a:tc row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Response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Line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응답코드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Header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66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/>
                        <a:t>Body</a:t>
                      </a: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 sz="4400"/>
              <a:t>Database 설계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ERD</a:t>
            </a:r>
            <a:endParaRPr/>
          </a:p>
        </p:txBody>
      </p:sp>
      <p:sp>
        <p:nvSpPr>
          <p:cNvPr id="128" name="Google Shape;128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그림</a:t>
            </a:r>
            <a:endParaRPr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A093088-1119-4F6C-B3F1-2ACE301C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665" y="0"/>
            <a:ext cx="62086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</a:pPr>
            <a:r>
              <a:rPr lang="en-US"/>
              <a:t>Table 명세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/>
              <a:t>ERD 테이블 구성 및 스키마 설명</a:t>
            </a:r>
            <a:endParaRPr/>
          </a:p>
        </p:txBody>
      </p:sp>
      <p:graphicFrame>
        <p:nvGraphicFramePr>
          <p:cNvPr id="135" name="Google Shape;135;p13"/>
          <p:cNvGraphicFramePr/>
          <p:nvPr/>
        </p:nvGraphicFramePr>
        <p:xfrm>
          <a:off x="1073805" y="2549450"/>
          <a:ext cx="8992900" cy="2595950"/>
        </p:xfrm>
        <a:graphic>
          <a:graphicData uri="http://schemas.openxmlformats.org/drawingml/2006/table">
            <a:tbl>
              <a:tblPr firstRow="1" bandRow="1">
                <a:noFill/>
                <a:tableStyleId>{5F6791DC-5017-4400-B032-68944D555E09}</a:tableStyleId>
              </a:tblPr>
              <a:tblGrid>
                <a:gridCol w="16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6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2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7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container</a:t>
                      </a:r>
                      <a:endParaRPr sz="1200"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테이블 설명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컨테이너 정보</a:t>
                      </a:r>
                      <a:endParaRPr/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컬럼명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타입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길이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Not Null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Key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Default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설명</a:t>
                      </a:r>
                      <a:endParaRPr sz="1200"/>
                    </a:p>
                  </a:txBody>
                  <a:tcPr marL="9525" marR="9525" marT="9525" marB="0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CONTAINERID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16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</a:rPr>
                        <a:t>PK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컨테이너식별자(차량번호)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DRIVERNAME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운전자이름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DRIVERPHONE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32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운전자연락처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COMMENT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varchar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128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컨테이너 정보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ISEALID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char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11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O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FK　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""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/>
                        <a:t>연결된 iseal 식별자</a:t>
                      </a:r>
                      <a:endParaRPr sz="1100" b="0" i="0" u="none" strike="noStrike">
                        <a:solidFill>
                          <a:srgbClr val="00000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515</Words>
  <Application>Microsoft Office PowerPoint</Application>
  <PresentationFormat>와이드스크린</PresentationFormat>
  <Paragraphs>210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Gulim</vt:lpstr>
      <vt:lpstr>Malgun Gothic</vt:lpstr>
      <vt:lpstr>Arial</vt:lpstr>
      <vt:lpstr>Office 테마</vt:lpstr>
      <vt:lpstr>횡단보도, 신호등 설치 현황 및 보행 안전 대시보드</vt:lpstr>
      <vt:lpstr>활용 데이터</vt:lpstr>
      <vt:lpstr>기능 정의</vt:lpstr>
      <vt:lpstr>시스템 구성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상세 명세</vt:lpstr>
      <vt:lpstr>Database 설계</vt:lpstr>
      <vt:lpstr>ERD</vt:lpstr>
      <vt:lpstr>Table 명세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횡단보도, 신호등 설치 현황 및 보행 안전 대시보드</dc:title>
  <dc:creator>김경민</dc:creator>
  <cp:lastModifiedBy>user</cp:lastModifiedBy>
  <cp:revision>9</cp:revision>
  <dcterms:created xsi:type="dcterms:W3CDTF">2023-11-14T00:10:21Z</dcterms:created>
  <dcterms:modified xsi:type="dcterms:W3CDTF">2025-12-30T08:09:25Z</dcterms:modified>
</cp:coreProperties>
</file>